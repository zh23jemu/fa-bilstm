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03A5C"/>
                </a:solidFill>
                <a:latin typeface="微软雅黑"/>
              </a:rPr>
              <a:t>FA-BiLSTM 测井智能识别架构图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900000"/>
            <a:ext cx="2700000" cy="55800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27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微软雅黑"/>
              </a:rPr>
              <a:t>1. 数据输入 (Data Input)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0" y="900000"/>
            <a:ext cx="5580000" cy="5580000"/>
          </a:xfrm>
          <a:prstGeom prst="roundRect">
            <a:avLst>
              <a:gd name="adj" fmla="val 9827"/>
            </a:avLst>
          </a:prstGeom>
          <a:solidFill>
            <a:srgbClr val="ECF2F9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40000" y="876147"/>
            <a:ext cx="55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03A5C"/>
                </a:solidFill>
                <a:latin typeface="微软雅黑"/>
              </a:rPr>
              <a:t>2. </a:t>
            </a:r>
            <a:r>
              <a:rPr sz="1600" b="1" dirty="0" err="1">
                <a:solidFill>
                  <a:srgbClr val="203A5C"/>
                </a:solidFill>
                <a:latin typeface="微软雅黑"/>
              </a:rPr>
              <a:t>核心网络</a:t>
            </a:r>
            <a:r>
              <a:rPr sz="1600" b="1" dirty="0">
                <a:solidFill>
                  <a:srgbClr val="203A5C"/>
                </a:solidFill>
                <a:latin typeface="微软雅黑"/>
              </a:rPr>
              <a:t> (FA-</a:t>
            </a:r>
            <a:r>
              <a:rPr sz="1600" b="1" dirty="0" err="1">
                <a:solidFill>
                  <a:srgbClr val="203A5C"/>
                </a:solidFill>
                <a:latin typeface="微软雅黑"/>
              </a:rPr>
              <a:t>BiLSTM</a:t>
            </a:r>
            <a:r>
              <a:rPr sz="1600" b="1" dirty="0">
                <a:solidFill>
                  <a:srgbClr val="203A5C"/>
                </a:solidFill>
                <a:latin typeface="微软雅黑"/>
              </a:rPr>
              <a:t> Engine)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0" y="900000"/>
            <a:ext cx="2808000" cy="55800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0" y="923853"/>
            <a:ext cx="280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03A5C"/>
                </a:solidFill>
                <a:latin typeface="微软雅黑"/>
              </a:rPr>
              <a:t>3. </a:t>
            </a:r>
            <a:r>
              <a:rPr sz="1600" b="1" dirty="0" err="1">
                <a:solidFill>
                  <a:srgbClr val="203A5C"/>
                </a:solidFill>
                <a:latin typeface="微软雅黑"/>
              </a:rPr>
              <a:t>预测输出</a:t>
            </a:r>
            <a:r>
              <a:rPr sz="1600" b="1" dirty="0">
                <a:solidFill>
                  <a:srgbClr val="203A5C"/>
                </a:solidFill>
                <a:latin typeface="微软雅黑"/>
              </a:rPr>
              <a:t> (Prediction Output)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0000" y="3600000"/>
            <a:ext cx="180000" cy="0"/>
          </a:xfrm>
          <a:prstGeom prst="line">
            <a:avLst/>
          </a:prstGeom>
          <a:ln w="381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0000" y="3600000"/>
            <a:ext cx="180000" cy="0"/>
          </a:xfrm>
          <a:prstGeom prst="line">
            <a:avLst/>
          </a:prstGeom>
          <a:ln w="381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0000" y="1440000"/>
            <a:ext cx="23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多维度连续测井参数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1980000"/>
            <a:ext cx="1800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Sigma (俘获截面)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" y="2520000"/>
            <a:ext cx="1800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C/O (碳氧比)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060000"/>
            <a:ext cx="1800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Ratio (非弹性比)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780000"/>
            <a:ext cx="2340000" cy="21600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000" y="3888000"/>
            <a:ext cx="23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基于滑动窗口的时序构造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8839" y="1322391"/>
            <a:ext cx="5220000" cy="23168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000" y="4320000"/>
            <a:ext cx="2124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Window Size (L) = 10
通过沿井深滑动，将单点转化为包含上下文的时序片段：
(Batch, L, Features)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839" y="1281755"/>
            <a:ext cx="52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时序特征提取 (BiLSTM Layer)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48000" y="1800000"/>
            <a:ext cx="0" cy="7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56000" y="3014441"/>
            <a:ext cx="64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微软雅黑"/>
              </a:rPr>
              <a:t>输入层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34162" y="2180744"/>
            <a:ext cx="77872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微软雅黑"/>
              </a:rPr>
              <a:t>双向层</a:t>
            </a:r>
            <a:r>
              <a:rPr sz="1000" b="1" dirty="0">
                <a:solidFill>
                  <a:srgbClr val="000000"/>
                </a:solidFill>
                <a:latin typeface="微软雅黑"/>
              </a:rPr>
              <a:t>
(</a:t>
            </a:r>
            <a:r>
              <a:rPr sz="1000" b="1" dirty="0" err="1">
                <a:solidFill>
                  <a:srgbClr val="000000"/>
                </a:solidFill>
                <a:latin typeface="微软雅黑"/>
              </a:rPr>
              <a:t>BiLSTM</a:t>
            </a:r>
            <a:r>
              <a:rPr sz="1000" b="1" dirty="0">
                <a:solidFill>
                  <a:srgbClr val="000000"/>
                </a:solidFill>
                <a:latin typeface="微软雅黑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3082" y="1728000"/>
            <a:ext cx="64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微软雅黑"/>
              </a:rPr>
              <a:t>输出层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068000" y="2979173"/>
            <a:ext cx="360000" cy="360000"/>
          </a:xfrm>
          <a:prstGeom prst="ellipse">
            <a:avLst/>
          </a:prstGeom>
          <a:solidFill>
            <a:srgbClr val="FFEBC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88000" y="3051920"/>
            <a:ext cx="7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微软雅黑"/>
              </a:rPr>
              <a:t>x_t-1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24000" y="253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24000" y="253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69273" y="2162969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5708" y="2191852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54" name="Oval 53"/>
          <p:cNvSpPr/>
          <p:nvPr/>
        </p:nvSpPr>
        <p:spPr>
          <a:xfrm>
            <a:off x="4104000" y="1800000"/>
            <a:ext cx="288000" cy="288000"/>
          </a:xfrm>
          <a:prstGeom prst="ellipse">
            <a:avLst/>
          </a:prstGeom>
          <a:solidFill>
            <a:srgbClr val="FFC0C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04000" y="1800000"/>
            <a:ext cx="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58594" y="1487491"/>
            <a:ext cx="7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微软雅黑"/>
              </a:rPr>
              <a:t>y_t-1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839" y="1480925"/>
            <a:ext cx="7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微软雅黑"/>
              </a:rPr>
              <a:t>y_t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420000" y="3359265"/>
            <a:ext cx="52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 err="1">
                <a:solidFill>
                  <a:srgbClr val="646464"/>
                </a:solidFill>
                <a:latin typeface="微软雅黑"/>
              </a:rPr>
              <a:t>说明：双向LSTM分别捕捉“由浅至深”和“由深至浅”的地质趋势</a:t>
            </a:r>
            <a:endParaRPr sz="1100" b="0" dirty="0">
              <a:solidFill>
                <a:srgbClr val="646464"/>
              </a:solidFill>
              <a:latin typeface="微软雅黑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3420000" y="3836874"/>
            <a:ext cx="5220000" cy="2463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413082" y="3847213"/>
            <a:ext cx="52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203A5C"/>
                </a:solidFill>
                <a:latin typeface="微软雅黑"/>
              </a:rPr>
              <a:t>特征注意力门控</a:t>
            </a:r>
            <a:r>
              <a:rPr sz="1400" b="1" dirty="0">
                <a:solidFill>
                  <a:srgbClr val="203A5C"/>
                </a:solidFill>
                <a:latin typeface="微软雅黑"/>
              </a:rPr>
              <a:t> (Feature Attention Gate)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00001" y="4508390"/>
            <a:ext cx="1007999" cy="540000"/>
          </a:xfrm>
          <a:prstGeom prst="roundRect">
            <a:avLst/>
          </a:prstGeom>
          <a:solidFill>
            <a:srgbClr val="D9EEF3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000000"/>
                </a:solidFill>
                <a:latin typeface="微软雅黑"/>
              </a:rPr>
              <a:t>h_target</a:t>
            </a:r>
            <a:r>
              <a:rPr sz="1100" b="1" dirty="0">
                <a:solidFill>
                  <a:srgbClr val="000000"/>
                </a:solidFill>
                <a:latin typeface="微软雅黑"/>
              </a:rPr>
              <a:t>
(</a:t>
            </a:r>
            <a:r>
              <a:rPr sz="1100" b="1" dirty="0" err="1">
                <a:solidFill>
                  <a:srgbClr val="000000"/>
                </a:solidFill>
                <a:latin typeface="微软雅黑"/>
              </a:rPr>
              <a:t>时序上下文表示</a:t>
            </a:r>
            <a:r>
              <a:rPr sz="1100" b="1" dirty="0">
                <a:solidFill>
                  <a:srgbClr val="000000"/>
                </a:solidFill>
                <a:latin typeface="微软雅黑"/>
              </a:rPr>
              <a:t>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00001" y="5256000"/>
            <a:ext cx="972000" cy="576000"/>
          </a:xfrm>
          <a:prstGeom prst="roundRect">
            <a:avLst/>
          </a:prstGeom>
          <a:solidFill>
            <a:srgbClr val="F7E7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000000"/>
                </a:solidFill>
                <a:latin typeface="微软雅黑"/>
              </a:rPr>
              <a:t>x_target</a:t>
            </a:r>
            <a:r>
              <a:rPr sz="1100" b="1" dirty="0">
                <a:solidFill>
                  <a:srgbClr val="000000"/>
                </a:solidFill>
                <a:latin typeface="微软雅黑"/>
              </a:rPr>
              <a:t>
(</a:t>
            </a:r>
            <a:r>
              <a:rPr sz="1100" b="1" dirty="0" err="1">
                <a:solidFill>
                  <a:srgbClr val="000000"/>
                </a:solidFill>
                <a:latin typeface="微软雅黑"/>
              </a:rPr>
              <a:t>当前深度物理特征</a:t>
            </a:r>
            <a:r>
              <a:rPr sz="1100" b="1" dirty="0">
                <a:solidFill>
                  <a:srgbClr val="000000"/>
                </a:solidFill>
                <a:latin typeface="微软雅黑"/>
              </a:rPr>
              <a:t>)</a:t>
            </a:r>
          </a:p>
        </p:txBody>
      </p:sp>
      <p:cxnSp>
        <p:nvCxnSpPr>
          <p:cNvPr id="82" name="Connector 81"/>
          <p:cNvCxnSpPr>
            <a:cxnSpLocks/>
            <a:stCxn id="80" idx="3"/>
          </p:cNvCxnSpPr>
          <p:nvPr/>
        </p:nvCxnSpPr>
        <p:spPr>
          <a:xfrm>
            <a:off x="4608000" y="4778390"/>
            <a:ext cx="612000" cy="36961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cxnSpLocks/>
            <a:stCxn id="81" idx="3"/>
          </p:cNvCxnSpPr>
          <p:nvPr/>
        </p:nvCxnSpPr>
        <p:spPr>
          <a:xfrm flipV="1">
            <a:off x="4572001" y="5256000"/>
            <a:ext cx="647999" cy="288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040000" y="4860000"/>
            <a:ext cx="576000" cy="576000"/>
          </a:xfrm>
          <a:prstGeom prst="ellipse">
            <a:avLst/>
          </a:prstGeom>
          <a:solidFill>
            <a:srgbClr val="E9E3F1"/>
          </a:solidFill>
          <a:ln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40000" y="4860000"/>
            <a:ext cx="576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微软雅黑"/>
              </a:rPr>
              <a:t>评分</a:t>
            </a:r>
            <a:r>
              <a:rPr sz="1000" b="1" dirty="0">
                <a:solidFill>
                  <a:srgbClr val="000000"/>
                </a:solidFill>
                <a:latin typeface="微软雅黑"/>
              </a:rPr>
              <a:t>
</a:t>
            </a:r>
            <a:r>
              <a:rPr sz="1000" b="1" dirty="0" err="1">
                <a:solidFill>
                  <a:srgbClr val="000000"/>
                </a:solidFill>
                <a:latin typeface="微软雅黑"/>
              </a:rPr>
              <a:t>函数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cxnSp>
        <p:nvCxnSpPr>
          <p:cNvPr id="86" name="Connector 85"/>
          <p:cNvCxnSpPr>
            <a:cxnSpLocks/>
          </p:cNvCxnSpPr>
          <p:nvPr/>
        </p:nvCxnSpPr>
        <p:spPr>
          <a:xfrm>
            <a:off x="5616000" y="5148000"/>
            <a:ext cx="5040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5940000" y="4860000"/>
            <a:ext cx="1052077" cy="576000"/>
          </a:xfrm>
          <a:prstGeom prst="roundRect">
            <a:avLst/>
          </a:prstGeom>
          <a:solidFill>
            <a:srgbClr val="E4EFE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100" b="1" dirty="0" err="1">
                <a:solidFill>
                  <a:srgbClr val="000000"/>
                </a:solidFill>
                <a:latin typeface="微软雅黑"/>
              </a:rPr>
              <a:t>Softmax</a:t>
            </a:r>
            <a:r>
              <a:rPr sz="1100" b="1" dirty="0" err="1">
                <a:solidFill>
                  <a:srgbClr val="000000"/>
                </a:solidFill>
                <a:latin typeface="微软雅黑"/>
              </a:rPr>
              <a:t>激活</a:t>
            </a:r>
            <a:r>
              <a:rPr sz="1100" b="1" dirty="0">
                <a:solidFill>
                  <a:srgbClr val="000000"/>
                </a:solidFill>
                <a:latin typeface="微软雅黑"/>
              </a:rPr>
              <a:t>
</a:t>
            </a:r>
            <a:r>
              <a:rPr sz="1100" b="1" dirty="0" err="1">
                <a:solidFill>
                  <a:srgbClr val="000000"/>
                </a:solidFill>
                <a:latin typeface="微软雅黑"/>
              </a:rPr>
              <a:t>分配权重</a:t>
            </a:r>
            <a:r>
              <a:rPr sz="1100" b="1" dirty="0">
                <a:solidFill>
                  <a:srgbClr val="000000"/>
                </a:solidFill>
                <a:latin typeface="微软雅黑"/>
              </a:rPr>
              <a:t>(α)</a:t>
            </a:r>
          </a:p>
        </p:txBody>
      </p:sp>
      <p:cxnSp>
        <p:nvCxnSpPr>
          <p:cNvPr id="88" name="Connector 87"/>
          <p:cNvCxnSpPr>
            <a:cxnSpLocks/>
            <a:stCxn id="87" idx="3"/>
          </p:cNvCxnSpPr>
          <p:nvPr/>
        </p:nvCxnSpPr>
        <p:spPr>
          <a:xfrm>
            <a:off x="6992077" y="5148000"/>
            <a:ext cx="315924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>
            <a:cxnSpLocks/>
            <a:stCxn id="81" idx="2"/>
          </p:cNvCxnSpPr>
          <p:nvPr/>
        </p:nvCxnSpPr>
        <p:spPr>
          <a:xfrm>
            <a:off x="4086001" y="5832000"/>
            <a:ext cx="0" cy="32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>
            <a:cxnSpLocks/>
          </p:cNvCxnSpPr>
          <p:nvPr/>
        </p:nvCxnSpPr>
        <p:spPr>
          <a:xfrm>
            <a:off x="4086001" y="6156000"/>
            <a:ext cx="3761999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48000" y="5436000"/>
            <a:ext cx="0" cy="720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7223228" y="4860000"/>
            <a:ext cx="1141544" cy="57600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特征贡献度加权
α ⊙ x_target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60149" y="4175999"/>
            <a:ext cx="4939701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646464"/>
                </a:solidFill>
                <a:latin typeface="微软雅黑"/>
              </a:rPr>
              <a:t>逻辑：上下文</a:t>
            </a:r>
            <a:r>
              <a:rPr sz="1100" b="0" dirty="0">
                <a:solidFill>
                  <a:srgbClr val="646464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646464"/>
                </a:solidFill>
                <a:latin typeface="微软雅黑"/>
              </a:rPr>
              <a:t>h_target</a:t>
            </a:r>
            <a:r>
              <a:rPr sz="1100" b="0" dirty="0">
                <a:solidFill>
                  <a:srgbClr val="646464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646464"/>
                </a:solidFill>
                <a:latin typeface="微软雅黑"/>
              </a:rPr>
              <a:t>决定当前环境下，各个物理参数</a:t>
            </a:r>
            <a:r>
              <a:rPr sz="1100" b="0" dirty="0">
                <a:solidFill>
                  <a:srgbClr val="646464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646464"/>
                </a:solidFill>
                <a:latin typeface="微软雅黑"/>
              </a:rPr>
              <a:t>x_target</a:t>
            </a:r>
            <a:r>
              <a:rPr sz="1100" b="0" dirty="0">
                <a:solidFill>
                  <a:srgbClr val="646464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646464"/>
                </a:solidFill>
                <a:latin typeface="微软雅黑"/>
              </a:rPr>
              <a:t>的贡献大小</a:t>
            </a:r>
            <a:endParaRPr sz="1100" b="0" dirty="0">
              <a:solidFill>
                <a:srgbClr val="646464"/>
              </a:solidFill>
              <a:latin typeface="微软雅黑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9180000" y="1425755"/>
            <a:ext cx="2448000" cy="12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80000" y="1434928"/>
            <a:ext cx="244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多尺度特征融合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80000" y="1794928"/>
            <a:ext cx="244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 err="1">
                <a:solidFill>
                  <a:srgbClr val="000000"/>
                </a:solidFill>
                <a:latin typeface="微软雅黑"/>
              </a:rPr>
              <a:t>拼接上下文与加权特征</a:t>
            </a:r>
            <a:r>
              <a:rPr sz="1000" b="0" dirty="0">
                <a:solidFill>
                  <a:srgbClr val="000000"/>
                </a:solidFill>
                <a:latin typeface="微软雅黑"/>
              </a:rPr>
              <a:t>：
[ </a:t>
            </a:r>
            <a:r>
              <a:rPr sz="1000" b="0" dirty="0" err="1">
                <a:solidFill>
                  <a:srgbClr val="000000"/>
                </a:solidFill>
                <a:latin typeface="微软雅黑"/>
              </a:rPr>
              <a:t>h_target</a:t>
            </a:r>
            <a:r>
              <a:rPr sz="1000" b="0" dirty="0">
                <a:solidFill>
                  <a:srgbClr val="000000"/>
                </a:solidFill>
                <a:latin typeface="微软雅黑"/>
              </a:rPr>
              <a:t>,
  </a:t>
            </a:r>
            <a:r>
              <a:rPr sz="1000" b="0" dirty="0" err="1">
                <a:solidFill>
                  <a:srgbClr val="000000"/>
                </a:solidFill>
                <a:latin typeface="微软雅黑"/>
              </a:rPr>
              <a:t>x_target</a:t>
            </a:r>
            <a:r>
              <a:rPr sz="1000" b="0" dirty="0">
                <a:solidFill>
                  <a:srgbClr val="000000"/>
                </a:solidFill>
                <a:latin typeface="微软雅黑"/>
              </a:rPr>
              <a:t>,
  </a:t>
            </a:r>
            <a:r>
              <a:rPr sz="1000" b="0" dirty="0" err="1">
                <a:solidFill>
                  <a:srgbClr val="000000"/>
                </a:solidFill>
                <a:latin typeface="微软雅黑"/>
              </a:rPr>
              <a:t>weighted_x</a:t>
            </a:r>
            <a:r>
              <a:rPr sz="1000" b="0" dirty="0">
                <a:solidFill>
                  <a:srgbClr val="000000"/>
                </a:solidFill>
                <a:latin typeface="微软雅黑"/>
              </a:rPr>
              <a:t> ]
</a:t>
            </a:r>
            <a:r>
              <a:rPr sz="1000" b="0" dirty="0" err="1">
                <a:solidFill>
                  <a:srgbClr val="000000"/>
                </a:solidFill>
                <a:latin typeface="微软雅黑"/>
              </a:rPr>
              <a:t>送入全连接层</a:t>
            </a:r>
            <a:endParaRPr sz="1000" b="0" dirty="0">
              <a:solidFill>
                <a:srgbClr val="000000"/>
              </a:solidFill>
              <a:latin typeface="微软雅黑"/>
            </a:endParaRPr>
          </a:p>
        </p:txBody>
      </p:sp>
      <p:cxnSp>
        <p:nvCxnSpPr>
          <p:cNvPr id="97" name="Connector 96"/>
          <p:cNvCxnSpPr>
            <a:cxnSpLocks/>
            <a:stCxn id="94" idx="2"/>
          </p:cNvCxnSpPr>
          <p:nvPr/>
        </p:nvCxnSpPr>
        <p:spPr>
          <a:xfrm>
            <a:off x="10404000" y="2685755"/>
            <a:ext cx="0" cy="374245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9180000" y="3060000"/>
            <a:ext cx="24480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80000" y="3060000"/>
            <a:ext cx="244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多阶段综合输出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360000" y="3780000"/>
            <a:ext cx="2088000" cy="540000"/>
          </a:xfrm>
          <a:prstGeom prst="roundRect">
            <a:avLst/>
          </a:prstGeom>
          <a:solidFill>
            <a:srgbClr val="FA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1. 分类标签 (Gas/Oil/ 0/1)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360000" y="4608000"/>
            <a:ext cx="2088000" cy="540000"/>
          </a:xfrm>
          <a:prstGeom prst="roundRect">
            <a:avLst/>
          </a:prstGeom>
          <a:solidFill>
            <a:srgbClr val="F0FA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2. 储层指数 (平滑概率曲线)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360000" y="5436000"/>
            <a:ext cx="2088000" cy="540000"/>
          </a:xfrm>
          <a:prstGeom prst="roundRect">
            <a:avLst/>
          </a:prstGeom>
          <a:solidFill>
            <a:srgbClr val="F0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3. 参数敏感性 (α响应曲线)</a:t>
            </a: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8357F6B-39E5-14D8-55E6-1A875462F975}"/>
              </a:ext>
            </a:extLst>
          </p:cNvPr>
          <p:cNvCxnSpPr>
            <a:stCxn id="51" idx="0"/>
            <a:endCxn id="54" idx="4"/>
          </p:cNvCxnSpPr>
          <p:nvPr/>
        </p:nvCxnSpPr>
        <p:spPr>
          <a:xfrm flipV="1">
            <a:off x="4248000" y="2088000"/>
            <a:ext cx="0" cy="45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F748B86A-E045-1A5A-ED35-CD9063BA9A6E}"/>
              </a:ext>
            </a:extLst>
          </p:cNvPr>
          <p:cNvCxnSpPr>
            <a:cxnSpLocks/>
          </p:cNvCxnSpPr>
          <p:nvPr/>
        </p:nvCxnSpPr>
        <p:spPr>
          <a:xfrm flipV="1">
            <a:off x="4248000" y="1521000"/>
            <a:ext cx="0" cy="27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0693FAAC-77E4-3E5E-EA82-E0AD7CE49D1A}"/>
              </a:ext>
            </a:extLst>
          </p:cNvPr>
          <p:cNvCxnSpPr>
            <a:cxnSpLocks/>
            <a:stCxn id="48" idx="0"/>
            <a:endCxn id="51" idx="2"/>
          </p:cNvCxnSpPr>
          <p:nvPr/>
        </p:nvCxnSpPr>
        <p:spPr>
          <a:xfrm flipV="1">
            <a:off x="4248000" y="2789999"/>
            <a:ext cx="0" cy="189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1D523EA5-08C9-A8A9-6793-5771EB3616F6}"/>
              </a:ext>
            </a:extLst>
          </p:cNvPr>
          <p:cNvCxnSpPr>
            <a:cxnSpLocks/>
            <a:stCxn id="48" idx="6"/>
            <a:endCxn id="52" idx="2"/>
          </p:cNvCxnSpPr>
          <p:nvPr/>
        </p:nvCxnSpPr>
        <p:spPr>
          <a:xfrm flipV="1">
            <a:off x="4428000" y="2414968"/>
            <a:ext cx="265273" cy="7442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F82E6BC6-2902-9DA5-80A9-D5C37C3E3D82}"/>
              </a:ext>
            </a:extLst>
          </p:cNvPr>
          <p:cNvCxnSpPr>
            <a:cxnSpLocks/>
          </p:cNvCxnSpPr>
          <p:nvPr/>
        </p:nvCxnSpPr>
        <p:spPr>
          <a:xfrm flipH="1" flipV="1">
            <a:off x="4119807" y="2297098"/>
            <a:ext cx="255411" cy="4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1C3761E8-BA6A-78C5-7867-D50D3A209217}"/>
              </a:ext>
            </a:extLst>
          </p:cNvPr>
          <p:cNvCxnSpPr>
            <a:cxnSpLocks/>
          </p:cNvCxnSpPr>
          <p:nvPr/>
        </p:nvCxnSpPr>
        <p:spPr>
          <a:xfrm flipH="1" flipV="1">
            <a:off x="5026977" y="2299148"/>
            <a:ext cx="312105" cy="4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" name="连接符: 肘形 133">
            <a:extLst>
              <a:ext uri="{FF2B5EF4-FFF2-40B4-BE49-F238E27FC236}">
                <a16:creationId xmlns:a16="http://schemas.microsoft.com/office/drawing/2014/main" id="{EDBE0EA9-9860-43B9-EA0F-F16F4C2C588A}"/>
              </a:ext>
            </a:extLst>
          </p:cNvPr>
          <p:cNvCxnSpPr>
            <a:cxnSpLocks/>
            <a:stCxn id="52" idx="0"/>
            <a:endCxn id="55" idx="3"/>
          </p:cNvCxnSpPr>
          <p:nvPr/>
        </p:nvCxnSpPr>
        <p:spPr>
          <a:xfrm rot="16200000" flipV="1">
            <a:off x="4433153" y="1902848"/>
            <a:ext cx="218969" cy="3012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9021F1F5-F9D7-E6F2-A030-C86E16C2EE27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4572000" y="26640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C9063BC0-7AEB-4842-BFCC-62595D066FC8}"/>
              </a:ext>
            </a:extLst>
          </p:cNvPr>
          <p:cNvCxnSpPr>
            <a:cxnSpLocks/>
          </p:cNvCxnSpPr>
          <p:nvPr/>
        </p:nvCxnSpPr>
        <p:spPr>
          <a:xfrm>
            <a:off x="3564000" y="26640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4" name="Connector 25">
            <a:extLst>
              <a:ext uri="{FF2B5EF4-FFF2-40B4-BE49-F238E27FC236}">
                <a16:creationId xmlns:a16="http://schemas.microsoft.com/office/drawing/2014/main" id="{46D3968A-D453-DF9F-4EB5-21CAF2BF4A81}"/>
              </a:ext>
            </a:extLst>
          </p:cNvPr>
          <p:cNvCxnSpPr/>
          <p:nvPr/>
        </p:nvCxnSpPr>
        <p:spPr>
          <a:xfrm>
            <a:off x="5828839" y="1793658"/>
            <a:ext cx="0" cy="7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47">
            <a:extLst>
              <a:ext uri="{FF2B5EF4-FFF2-40B4-BE49-F238E27FC236}">
                <a16:creationId xmlns:a16="http://schemas.microsoft.com/office/drawing/2014/main" id="{A32C37F6-0100-879F-AA0B-D006928A9EB8}"/>
              </a:ext>
            </a:extLst>
          </p:cNvPr>
          <p:cNvSpPr/>
          <p:nvPr/>
        </p:nvSpPr>
        <p:spPr>
          <a:xfrm>
            <a:off x="5648839" y="2972831"/>
            <a:ext cx="360000" cy="360000"/>
          </a:xfrm>
          <a:prstGeom prst="ellipse">
            <a:avLst/>
          </a:prstGeom>
          <a:solidFill>
            <a:srgbClr val="FFEBC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48">
            <a:extLst>
              <a:ext uri="{FF2B5EF4-FFF2-40B4-BE49-F238E27FC236}">
                <a16:creationId xmlns:a16="http://schemas.microsoft.com/office/drawing/2014/main" id="{AC7028D7-4865-0CA5-8E2F-8EB93407FB82}"/>
              </a:ext>
            </a:extLst>
          </p:cNvPr>
          <p:cNvSpPr txBox="1"/>
          <p:nvPr/>
        </p:nvSpPr>
        <p:spPr>
          <a:xfrm>
            <a:off x="5468839" y="3045578"/>
            <a:ext cx="7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微软雅黑"/>
              </a:rPr>
              <a:t>x_t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149" name="Rounded Rectangle 49">
            <a:extLst>
              <a:ext uri="{FF2B5EF4-FFF2-40B4-BE49-F238E27FC236}">
                <a16:creationId xmlns:a16="http://schemas.microsoft.com/office/drawing/2014/main" id="{2A29D5A7-1AD8-5AD1-E077-94D79D5D464B}"/>
              </a:ext>
            </a:extLst>
          </p:cNvPr>
          <p:cNvSpPr/>
          <p:nvPr/>
        </p:nvSpPr>
        <p:spPr>
          <a:xfrm>
            <a:off x="5504839" y="2531658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50">
            <a:extLst>
              <a:ext uri="{FF2B5EF4-FFF2-40B4-BE49-F238E27FC236}">
                <a16:creationId xmlns:a16="http://schemas.microsoft.com/office/drawing/2014/main" id="{70290552-C2C3-C9BC-F815-286F2F5A81F0}"/>
              </a:ext>
            </a:extLst>
          </p:cNvPr>
          <p:cNvSpPr txBox="1"/>
          <p:nvPr/>
        </p:nvSpPr>
        <p:spPr>
          <a:xfrm>
            <a:off x="5504839" y="2531658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151" name="Rounded Rectangle 51">
            <a:extLst>
              <a:ext uri="{FF2B5EF4-FFF2-40B4-BE49-F238E27FC236}">
                <a16:creationId xmlns:a16="http://schemas.microsoft.com/office/drawing/2014/main" id="{A8A76791-A381-5850-5105-DB703900C975}"/>
              </a:ext>
            </a:extLst>
          </p:cNvPr>
          <p:cNvSpPr/>
          <p:nvPr/>
        </p:nvSpPr>
        <p:spPr>
          <a:xfrm>
            <a:off x="5950112" y="2156627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52">
            <a:extLst>
              <a:ext uri="{FF2B5EF4-FFF2-40B4-BE49-F238E27FC236}">
                <a16:creationId xmlns:a16="http://schemas.microsoft.com/office/drawing/2014/main" id="{0518CD34-2584-B50D-D3D7-84957BE77D95}"/>
              </a:ext>
            </a:extLst>
          </p:cNvPr>
          <p:cNvSpPr txBox="1"/>
          <p:nvPr/>
        </p:nvSpPr>
        <p:spPr>
          <a:xfrm>
            <a:off x="5876547" y="218551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153" name="Oval 53">
            <a:extLst>
              <a:ext uri="{FF2B5EF4-FFF2-40B4-BE49-F238E27FC236}">
                <a16:creationId xmlns:a16="http://schemas.microsoft.com/office/drawing/2014/main" id="{C97C3EF9-E9B2-A86F-D3BF-480858DBEED8}"/>
              </a:ext>
            </a:extLst>
          </p:cNvPr>
          <p:cNvSpPr/>
          <p:nvPr/>
        </p:nvSpPr>
        <p:spPr>
          <a:xfrm>
            <a:off x="5684839" y="1793658"/>
            <a:ext cx="288000" cy="288000"/>
          </a:xfrm>
          <a:prstGeom prst="ellipse">
            <a:avLst/>
          </a:prstGeom>
          <a:solidFill>
            <a:srgbClr val="FFC0C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54">
            <a:extLst>
              <a:ext uri="{FF2B5EF4-FFF2-40B4-BE49-F238E27FC236}">
                <a16:creationId xmlns:a16="http://schemas.microsoft.com/office/drawing/2014/main" id="{E55D72CF-DCD7-36B2-2F1A-A6B5B5246081}"/>
              </a:ext>
            </a:extLst>
          </p:cNvPr>
          <p:cNvSpPr txBox="1"/>
          <p:nvPr/>
        </p:nvSpPr>
        <p:spPr>
          <a:xfrm>
            <a:off x="5684839" y="1793658"/>
            <a:ext cx="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BDCE71DF-1FB4-952B-CCF8-29DFB591B203}"/>
              </a:ext>
            </a:extLst>
          </p:cNvPr>
          <p:cNvCxnSpPr>
            <a:stCxn id="150" idx="0"/>
            <a:endCxn id="153" idx="4"/>
          </p:cNvCxnSpPr>
          <p:nvPr/>
        </p:nvCxnSpPr>
        <p:spPr>
          <a:xfrm flipV="1">
            <a:off x="5828839" y="2081658"/>
            <a:ext cx="0" cy="45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4E00E7C3-DD63-D33C-2253-5B1C0FA2B3AC}"/>
              </a:ext>
            </a:extLst>
          </p:cNvPr>
          <p:cNvCxnSpPr>
            <a:cxnSpLocks/>
            <a:stCxn id="147" idx="0"/>
            <a:endCxn id="150" idx="2"/>
          </p:cNvCxnSpPr>
          <p:nvPr/>
        </p:nvCxnSpPr>
        <p:spPr>
          <a:xfrm flipV="1">
            <a:off x="5828839" y="2783657"/>
            <a:ext cx="0" cy="189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连接符: 肘形 156">
            <a:extLst>
              <a:ext uri="{FF2B5EF4-FFF2-40B4-BE49-F238E27FC236}">
                <a16:creationId xmlns:a16="http://schemas.microsoft.com/office/drawing/2014/main" id="{4E4185C7-E5B2-EE7E-97CE-F9987FE92323}"/>
              </a:ext>
            </a:extLst>
          </p:cNvPr>
          <p:cNvCxnSpPr>
            <a:cxnSpLocks/>
            <a:stCxn id="147" idx="6"/>
            <a:endCxn id="151" idx="2"/>
          </p:cNvCxnSpPr>
          <p:nvPr/>
        </p:nvCxnSpPr>
        <p:spPr>
          <a:xfrm flipV="1">
            <a:off x="6008839" y="2408626"/>
            <a:ext cx="265273" cy="7442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6E1DD04E-0383-B926-3F24-E9374551E086}"/>
              </a:ext>
            </a:extLst>
          </p:cNvPr>
          <p:cNvCxnSpPr>
            <a:cxnSpLocks/>
          </p:cNvCxnSpPr>
          <p:nvPr/>
        </p:nvCxnSpPr>
        <p:spPr>
          <a:xfrm flipH="1">
            <a:off x="5616000" y="2295608"/>
            <a:ext cx="340057" cy="2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CF86DAFA-5FC2-09C7-2921-B8D2D4F2CE7C}"/>
              </a:ext>
            </a:extLst>
          </p:cNvPr>
          <p:cNvCxnSpPr>
            <a:cxnSpLocks/>
          </p:cNvCxnSpPr>
          <p:nvPr/>
        </p:nvCxnSpPr>
        <p:spPr>
          <a:xfrm flipH="1" flipV="1">
            <a:off x="6607816" y="2292806"/>
            <a:ext cx="312105" cy="4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9859F318-6322-5CD1-8332-836E4E2CE69F}"/>
              </a:ext>
            </a:extLst>
          </p:cNvPr>
          <p:cNvCxnSpPr>
            <a:cxnSpLocks/>
            <a:stCxn id="151" idx="0"/>
            <a:endCxn id="154" idx="3"/>
          </p:cNvCxnSpPr>
          <p:nvPr/>
        </p:nvCxnSpPr>
        <p:spPr>
          <a:xfrm rot="16200000" flipV="1">
            <a:off x="6013992" y="1896506"/>
            <a:ext cx="218969" cy="3012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9C5D8701-5E00-3B28-2ED1-BCC935F8950B}"/>
              </a:ext>
            </a:extLst>
          </p:cNvPr>
          <p:cNvCxnSpPr>
            <a:cxnSpLocks/>
            <a:stCxn id="149" idx="3"/>
          </p:cNvCxnSpPr>
          <p:nvPr/>
        </p:nvCxnSpPr>
        <p:spPr>
          <a:xfrm>
            <a:off x="6152839" y="265765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A3AD8E0E-1CA7-B7A7-6B84-4EDAAD289555}"/>
              </a:ext>
            </a:extLst>
          </p:cNvPr>
          <p:cNvCxnSpPr>
            <a:cxnSpLocks/>
          </p:cNvCxnSpPr>
          <p:nvPr/>
        </p:nvCxnSpPr>
        <p:spPr>
          <a:xfrm>
            <a:off x="5144839" y="265765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C49D5ED8-D27F-B36C-43C3-BE3F22A416A2}"/>
              </a:ext>
            </a:extLst>
          </p:cNvPr>
          <p:cNvCxnSpPr>
            <a:cxnSpLocks/>
          </p:cNvCxnSpPr>
          <p:nvPr/>
        </p:nvCxnSpPr>
        <p:spPr>
          <a:xfrm>
            <a:off x="5421132" y="2304000"/>
            <a:ext cx="14716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2823582C-B9D0-6874-88AE-6189E5FFF35D}"/>
              </a:ext>
            </a:extLst>
          </p:cNvPr>
          <p:cNvCxnSpPr>
            <a:cxnSpLocks/>
          </p:cNvCxnSpPr>
          <p:nvPr/>
        </p:nvCxnSpPr>
        <p:spPr>
          <a:xfrm flipV="1">
            <a:off x="5836029" y="1528510"/>
            <a:ext cx="0" cy="27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F858BB3B-2E05-4141-06CC-609F4A030E84}"/>
              </a:ext>
            </a:extLst>
          </p:cNvPr>
          <p:cNvCxnSpPr>
            <a:cxnSpLocks/>
          </p:cNvCxnSpPr>
          <p:nvPr/>
        </p:nvCxnSpPr>
        <p:spPr>
          <a:xfrm>
            <a:off x="6574323" y="2650148"/>
            <a:ext cx="14716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9" name="Connector 25">
            <a:extLst>
              <a:ext uri="{FF2B5EF4-FFF2-40B4-BE49-F238E27FC236}">
                <a16:creationId xmlns:a16="http://schemas.microsoft.com/office/drawing/2014/main" id="{A4C732F5-002B-EF98-C480-BBC949268FFD}"/>
              </a:ext>
            </a:extLst>
          </p:cNvPr>
          <p:cNvCxnSpPr/>
          <p:nvPr/>
        </p:nvCxnSpPr>
        <p:spPr>
          <a:xfrm>
            <a:off x="7460673" y="1786148"/>
            <a:ext cx="0" cy="7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47">
            <a:extLst>
              <a:ext uri="{FF2B5EF4-FFF2-40B4-BE49-F238E27FC236}">
                <a16:creationId xmlns:a16="http://schemas.microsoft.com/office/drawing/2014/main" id="{3358F959-90A2-7CF4-8CB5-D68F18E10E60}"/>
              </a:ext>
            </a:extLst>
          </p:cNvPr>
          <p:cNvSpPr/>
          <p:nvPr/>
        </p:nvSpPr>
        <p:spPr>
          <a:xfrm>
            <a:off x="7280673" y="2965321"/>
            <a:ext cx="360000" cy="360000"/>
          </a:xfrm>
          <a:prstGeom prst="ellipse">
            <a:avLst/>
          </a:prstGeom>
          <a:solidFill>
            <a:srgbClr val="FFEBC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48">
            <a:extLst>
              <a:ext uri="{FF2B5EF4-FFF2-40B4-BE49-F238E27FC236}">
                <a16:creationId xmlns:a16="http://schemas.microsoft.com/office/drawing/2014/main" id="{A1CB2080-BFF8-2FDA-B94D-56E59E0C0107}"/>
              </a:ext>
            </a:extLst>
          </p:cNvPr>
          <p:cNvSpPr txBox="1"/>
          <p:nvPr/>
        </p:nvSpPr>
        <p:spPr>
          <a:xfrm>
            <a:off x="7100673" y="3038068"/>
            <a:ext cx="7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微软雅黑"/>
              </a:rPr>
              <a:t>x_t</a:t>
            </a:r>
            <a:r>
              <a:rPr lang="en-US" sz="1000" b="1" dirty="0">
                <a:solidFill>
                  <a:srgbClr val="000000"/>
                </a:solidFill>
                <a:latin typeface="微软雅黑"/>
              </a:rPr>
              <a:t>+</a:t>
            </a:r>
            <a:r>
              <a:rPr sz="1000" b="1" dirty="0">
                <a:solidFill>
                  <a:srgbClr val="000000"/>
                </a:solidFill>
                <a:latin typeface="微软雅黑"/>
              </a:rPr>
              <a:t>1</a:t>
            </a:r>
          </a:p>
        </p:txBody>
      </p:sp>
      <p:sp>
        <p:nvSpPr>
          <p:cNvPr id="172" name="Rounded Rectangle 49">
            <a:extLst>
              <a:ext uri="{FF2B5EF4-FFF2-40B4-BE49-F238E27FC236}">
                <a16:creationId xmlns:a16="http://schemas.microsoft.com/office/drawing/2014/main" id="{F5BAADBD-1515-ACA3-2185-9BE98C688C49}"/>
              </a:ext>
            </a:extLst>
          </p:cNvPr>
          <p:cNvSpPr/>
          <p:nvPr/>
        </p:nvSpPr>
        <p:spPr>
          <a:xfrm>
            <a:off x="7136673" y="2524148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50">
            <a:extLst>
              <a:ext uri="{FF2B5EF4-FFF2-40B4-BE49-F238E27FC236}">
                <a16:creationId xmlns:a16="http://schemas.microsoft.com/office/drawing/2014/main" id="{95849C43-C96D-0598-0B3C-FC41E24C7B31}"/>
              </a:ext>
            </a:extLst>
          </p:cNvPr>
          <p:cNvSpPr txBox="1"/>
          <p:nvPr/>
        </p:nvSpPr>
        <p:spPr>
          <a:xfrm>
            <a:off x="7136673" y="2524148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174" name="Rounded Rectangle 51">
            <a:extLst>
              <a:ext uri="{FF2B5EF4-FFF2-40B4-BE49-F238E27FC236}">
                <a16:creationId xmlns:a16="http://schemas.microsoft.com/office/drawing/2014/main" id="{93502B1D-2333-ED4F-DE98-CAB2B20A26A8}"/>
              </a:ext>
            </a:extLst>
          </p:cNvPr>
          <p:cNvSpPr/>
          <p:nvPr/>
        </p:nvSpPr>
        <p:spPr>
          <a:xfrm>
            <a:off x="7581946" y="2149117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52">
            <a:extLst>
              <a:ext uri="{FF2B5EF4-FFF2-40B4-BE49-F238E27FC236}">
                <a16:creationId xmlns:a16="http://schemas.microsoft.com/office/drawing/2014/main" id="{F58E9D7A-159A-B23C-0ED2-25304A5BB00D}"/>
              </a:ext>
            </a:extLst>
          </p:cNvPr>
          <p:cNvSpPr txBox="1"/>
          <p:nvPr/>
        </p:nvSpPr>
        <p:spPr>
          <a:xfrm>
            <a:off x="7508381" y="217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176" name="Oval 53">
            <a:extLst>
              <a:ext uri="{FF2B5EF4-FFF2-40B4-BE49-F238E27FC236}">
                <a16:creationId xmlns:a16="http://schemas.microsoft.com/office/drawing/2014/main" id="{732097D5-4224-4322-4193-138547DFE5EA}"/>
              </a:ext>
            </a:extLst>
          </p:cNvPr>
          <p:cNvSpPr/>
          <p:nvPr/>
        </p:nvSpPr>
        <p:spPr>
          <a:xfrm>
            <a:off x="7316673" y="1786148"/>
            <a:ext cx="288000" cy="288000"/>
          </a:xfrm>
          <a:prstGeom prst="ellipse">
            <a:avLst/>
          </a:prstGeom>
          <a:solidFill>
            <a:srgbClr val="FFC0C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54">
            <a:extLst>
              <a:ext uri="{FF2B5EF4-FFF2-40B4-BE49-F238E27FC236}">
                <a16:creationId xmlns:a16="http://schemas.microsoft.com/office/drawing/2014/main" id="{9355EC3A-BA6B-99C9-CD45-4CAD8B9B0887}"/>
              </a:ext>
            </a:extLst>
          </p:cNvPr>
          <p:cNvSpPr txBox="1"/>
          <p:nvPr/>
        </p:nvSpPr>
        <p:spPr>
          <a:xfrm>
            <a:off x="7316673" y="1786148"/>
            <a:ext cx="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sp>
        <p:nvSpPr>
          <p:cNvPr id="178" name="TextBox 55">
            <a:extLst>
              <a:ext uri="{FF2B5EF4-FFF2-40B4-BE49-F238E27FC236}">
                <a16:creationId xmlns:a16="http://schemas.microsoft.com/office/drawing/2014/main" id="{B367D17C-1A5F-DD0C-29B2-D8D9C600A722}"/>
              </a:ext>
            </a:extLst>
          </p:cNvPr>
          <p:cNvSpPr txBox="1"/>
          <p:nvPr/>
        </p:nvSpPr>
        <p:spPr>
          <a:xfrm>
            <a:off x="7371267" y="1458529"/>
            <a:ext cx="7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微软雅黑"/>
              </a:rPr>
              <a:t>y_t</a:t>
            </a:r>
            <a:r>
              <a:rPr lang="en-US" sz="1000" b="1" dirty="0">
                <a:solidFill>
                  <a:srgbClr val="000000"/>
                </a:solidFill>
                <a:latin typeface="微软雅黑"/>
              </a:rPr>
              <a:t>+</a:t>
            </a:r>
            <a:r>
              <a:rPr sz="1000" b="1" dirty="0">
                <a:solidFill>
                  <a:srgbClr val="000000"/>
                </a:solidFill>
                <a:latin typeface="微软雅黑"/>
              </a:rPr>
              <a:t>1</a:t>
            </a:r>
          </a:p>
        </p:txBody>
      </p: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11F497B9-6A8B-3573-2A33-C094F93CD5BD}"/>
              </a:ext>
            </a:extLst>
          </p:cNvPr>
          <p:cNvCxnSpPr>
            <a:stCxn id="173" idx="0"/>
            <a:endCxn id="176" idx="4"/>
          </p:cNvCxnSpPr>
          <p:nvPr/>
        </p:nvCxnSpPr>
        <p:spPr>
          <a:xfrm flipV="1">
            <a:off x="7460673" y="2074148"/>
            <a:ext cx="0" cy="45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1A4C4E3C-65D1-9457-3F48-A6300DAAA807}"/>
              </a:ext>
            </a:extLst>
          </p:cNvPr>
          <p:cNvCxnSpPr>
            <a:cxnSpLocks/>
          </p:cNvCxnSpPr>
          <p:nvPr/>
        </p:nvCxnSpPr>
        <p:spPr>
          <a:xfrm flipV="1">
            <a:off x="7460673" y="1507148"/>
            <a:ext cx="0" cy="27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18FE5903-6658-080C-23C4-3A147B359AD9}"/>
              </a:ext>
            </a:extLst>
          </p:cNvPr>
          <p:cNvCxnSpPr>
            <a:cxnSpLocks/>
            <a:stCxn id="170" idx="0"/>
            <a:endCxn id="173" idx="2"/>
          </p:cNvCxnSpPr>
          <p:nvPr/>
        </p:nvCxnSpPr>
        <p:spPr>
          <a:xfrm flipV="1">
            <a:off x="7460673" y="2776147"/>
            <a:ext cx="0" cy="189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连接符: 肘形 181">
            <a:extLst>
              <a:ext uri="{FF2B5EF4-FFF2-40B4-BE49-F238E27FC236}">
                <a16:creationId xmlns:a16="http://schemas.microsoft.com/office/drawing/2014/main" id="{B0442FFA-124E-845C-884E-5531541CAA79}"/>
              </a:ext>
            </a:extLst>
          </p:cNvPr>
          <p:cNvCxnSpPr>
            <a:cxnSpLocks/>
            <a:stCxn id="170" idx="6"/>
            <a:endCxn id="174" idx="2"/>
          </p:cNvCxnSpPr>
          <p:nvPr/>
        </p:nvCxnSpPr>
        <p:spPr>
          <a:xfrm flipV="1">
            <a:off x="7640673" y="2401116"/>
            <a:ext cx="265273" cy="7442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F1B2B666-3283-974B-A775-CF970ED5DA83}"/>
              </a:ext>
            </a:extLst>
          </p:cNvPr>
          <p:cNvCxnSpPr>
            <a:cxnSpLocks/>
          </p:cNvCxnSpPr>
          <p:nvPr/>
        </p:nvCxnSpPr>
        <p:spPr>
          <a:xfrm flipH="1" flipV="1">
            <a:off x="7236628" y="2282626"/>
            <a:ext cx="351263" cy="5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4" name="连接符: 肘形 183">
            <a:extLst>
              <a:ext uri="{FF2B5EF4-FFF2-40B4-BE49-F238E27FC236}">
                <a16:creationId xmlns:a16="http://schemas.microsoft.com/office/drawing/2014/main" id="{D6AEE46E-0606-8327-D45C-2477C557D12D}"/>
              </a:ext>
            </a:extLst>
          </p:cNvPr>
          <p:cNvCxnSpPr>
            <a:cxnSpLocks/>
            <a:stCxn id="174" idx="0"/>
            <a:endCxn id="177" idx="3"/>
          </p:cNvCxnSpPr>
          <p:nvPr/>
        </p:nvCxnSpPr>
        <p:spPr>
          <a:xfrm rot="16200000" flipV="1">
            <a:off x="7645826" y="1888996"/>
            <a:ext cx="218969" cy="3012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6042F015-15CE-E436-D4DC-1449B0B2F6A8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784673" y="265014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450A62C0-C9CC-07D5-6FFB-7372049A8823}"/>
              </a:ext>
            </a:extLst>
          </p:cNvPr>
          <p:cNvCxnSpPr>
            <a:cxnSpLocks/>
          </p:cNvCxnSpPr>
          <p:nvPr/>
        </p:nvCxnSpPr>
        <p:spPr>
          <a:xfrm>
            <a:off x="6776673" y="265014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53EDFC05-400C-B6FC-313A-F7C8924C6988}"/>
              </a:ext>
            </a:extLst>
          </p:cNvPr>
          <p:cNvCxnSpPr>
            <a:cxnSpLocks/>
          </p:cNvCxnSpPr>
          <p:nvPr/>
        </p:nvCxnSpPr>
        <p:spPr>
          <a:xfrm>
            <a:off x="4966419" y="2667689"/>
            <a:ext cx="14716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6A08CAF5-F46E-2C3E-00C1-C45917BFC395}"/>
              </a:ext>
            </a:extLst>
          </p:cNvPr>
          <p:cNvCxnSpPr>
            <a:cxnSpLocks/>
          </p:cNvCxnSpPr>
          <p:nvPr/>
        </p:nvCxnSpPr>
        <p:spPr>
          <a:xfrm>
            <a:off x="7027092" y="2297098"/>
            <a:ext cx="14716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DD4C77EA-3FC1-1F55-8A53-780729986AC6}"/>
              </a:ext>
            </a:extLst>
          </p:cNvPr>
          <p:cNvCxnSpPr>
            <a:cxnSpLocks/>
          </p:cNvCxnSpPr>
          <p:nvPr/>
        </p:nvCxnSpPr>
        <p:spPr>
          <a:xfrm flipH="1" flipV="1">
            <a:off x="8229946" y="2275745"/>
            <a:ext cx="351263" cy="5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2" name="TextBox 55">
            <a:extLst>
              <a:ext uri="{FF2B5EF4-FFF2-40B4-BE49-F238E27FC236}">
                <a16:creationId xmlns:a16="http://schemas.microsoft.com/office/drawing/2014/main" id="{868324DD-BAFC-0146-40FD-FE2DC0C67D0D}"/>
              </a:ext>
            </a:extLst>
          </p:cNvPr>
          <p:cNvSpPr txBox="1"/>
          <p:nvPr/>
        </p:nvSpPr>
        <p:spPr>
          <a:xfrm>
            <a:off x="4725783" y="3055691"/>
            <a:ext cx="7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微软雅黑"/>
              </a:rPr>
              <a:t>…….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193" name="TextBox 55">
            <a:extLst>
              <a:ext uri="{FF2B5EF4-FFF2-40B4-BE49-F238E27FC236}">
                <a16:creationId xmlns:a16="http://schemas.microsoft.com/office/drawing/2014/main" id="{F6B48E84-9FB0-D199-4199-B222BC7C50E7}"/>
              </a:ext>
            </a:extLst>
          </p:cNvPr>
          <p:cNvSpPr txBox="1"/>
          <p:nvPr/>
        </p:nvSpPr>
        <p:spPr>
          <a:xfrm>
            <a:off x="6361484" y="3065196"/>
            <a:ext cx="7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微软雅黑"/>
              </a:rPr>
              <a:t>…….</a:t>
            </a:r>
            <a:endParaRPr sz="1000" b="1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20" name="Rounded Rectangle 75">
            <a:extLst>
              <a:ext uri="{FF2B5EF4-FFF2-40B4-BE49-F238E27FC236}">
                <a16:creationId xmlns:a16="http://schemas.microsoft.com/office/drawing/2014/main" id="{BDC939E5-FE93-3F3B-F3C5-24015E4412B2}"/>
              </a:ext>
            </a:extLst>
          </p:cNvPr>
          <p:cNvSpPr/>
          <p:nvPr/>
        </p:nvSpPr>
        <p:spPr>
          <a:xfrm>
            <a:off x="8091267" y="1686613"/>
            <a:ext cx="714490" cy="288000"/>
          </a:xfrm>
          <a:prstGeom prst="roundRect">
            <a:avLst/>
          </a:prstGeom>
          <a:solidFill>
            <a:srgbClr val="F0F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 err="1">
                <a:solidFill>
                  <a:srgbClr val="000000"/>
                </a:solidFill>
                <a:latin typeface="微软雅黑"/>
              </a:rPr>
              <a:t>h_target</a:t>
            </a:r>
            <a:r>
              <a:rPr sz="900" b="1" dirty="0">
                <a:solidFill>
                  <a:srgbClr val="000000"/>
                </a:solidFill>
                <a:latin typeface="微软雅黑"/>
              </a:rPr>
              <a:t>
(</a:t>
            </a:r>
            <a:r>
              <a:rPr sz="900" b="1" dirty="0" err="1">
                <a:solidFill>
                  <a:srgbClr val="000000"/>
                </a:solidFill>
                <a:latin typeface="微软雅黑"/>
              </a:rPr>
              <a:t>上下文</a:t>
            </a:r>
            <a:r>
              <a:rPr sz="900" b="1" dirty="0">
                <a:solidFill>
                  <a:srgbClr val="000000"/>
                </a:solidFill>
                <a:latin typeface="微软雅黑"/>
              </a:rPr>
              <a:t>)</a:t>
            </a:r>
          </a:p>
        </p:txBody>
      </p:sp>
      <p:cxnSp>
        <p:nvCxnSpPr>
          <p:cNvPr id="21" name="Connector 97">
            <a:extLst>
              <a:ext uri="{FF2B5EF4-FFF2-40B4-BE49-F238E27FC236}">
                <a16:creationId xmlns:a16="http://schemas.microsoft.com/office/drawing/2014/main" id="{31C9581F-FEDA-CE68-CEDF-B29C93A0D1A5}"/>
              </a:ext>
            </a:extLst>
          </p:cNvPr>
          <p:cNvCxnSpPr>
            <a:cxnSpLocks/>
            <a:stCxn id="147" idx="4"/>
          </p:cNvCxnSpPr>
          <p:nvPr/>
        </p:nvCxnSpPr>
        <p:spPr>
          <a:xfrm flipH="1">
            <a:off x="5821420" y="3332831"/>
            <a:ext cx="7419" cy="2218619"/>
          </a:xfrm>
          <a:prstGeom prst="line">
            <a:avLst/>
          </a:prstGeom>
          <a:ln w="15240">
            <a:solidFill>
              <a:srgbClr val="96B4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99">
            <a:extLst>
              <a:ext uri="{FF2B5EF4-FFF2-40B4-BE49-F238E27FC236}">
                <a16:creationId xmlns:a16="http://schemas.microsoft.com/office/drawing/2014/main" id="{050718BA-8126-E62C-8FAC-CF8108445F4F}"/>
              </a:ext>
            </a:extLst>
          </p:cNvPr>
          <p:cNvSpPr txBox="1"/>
          <p:nvPr/>
        </p:nvSpPr>
        <p:spPr>
          <a:xfrm>
            <a:off x="5336432" y="5633939"/>
            <a:ext cx="9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64A064"/>
                </a:solidFill>
                <a:latin typeface="微软雅黑"/>
              </a:rPr>
              <a:t>当前时刻物理特征</a:t>
            </a:r>
            <a:endParaRPr sz="1000" b="1" dirty="0">
              <a:solidFill>
                <a:srgbClr val="64A064"/>
              </a:solidFill>
              <a:latin typeface="微软雅黑"/>
            </a:endParaRPr>
          </a:p>
        </p:txBody>
      </p:sp>
      <p:cxnSp>
        <p:nvCxnSpPr>
          <p:cNvPr id="24" name="Connector 98">
            <a:extLst>
              <a:ext uri="{FF2B5EF4-FFF2-40B4-BE49-F238E27FC236}">
                <a16:creationId xmlns:a16="http://schemas.microsoft.com/office/drawing/2014/main" id="{33349282-BB5D-6EF5-A897-7C9E4EF5376B}"/>
              </a:ext>
            </a:extLst>
          </p:cNvPr>
          <p:cNvCxnSpPr>
            <a:cxnSpLocks/>
          </p:cNvCxnSpPr>
          <p:nvPr/>
        </p:nvCxnSpPr>
        <p:spPr>
          <a:xfrm flipH="1">
            <a:off x="4554000" y="5544000"/>
            <a:ext cx="1267420" cy="7450"/>
          </a:xfrm>
          <a:prstGeom prst="line">
            <a:avLst/>
          </a:prstGeom>
          <a:ln w="15240">
            <a:solidFill>
              <a:srgbClr val="96B4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93">
            <a:extLst>
              <a:ext uri="{FF2B5EF4-FFF2-40B4-BE49-F238E27FC236}">
                <a16:creationId xmlns:a16="http://schemas.microsoft.com/office/drawing/2014/main" id="{9B9E0C9B-4F90-9F8F-21C1-D84C5AD75639}"/>
              </a:ext>
            </a:extLst>
          </p:cNvPr>
          <p:cNvCxnSpPr>
            <a:cxnSpLocks/>
          </p:cNvCxnSpPr>
          <p:nvPr/>
        </p:nvCxnSpPr>
        <p:spPr>
          <a:xfrm>
            <a:off x="8499850" y="1976682"/>
            <a:ext cx="0" cy="1803318"/>
          </a:xfrm>
          <a:prstGeom prst="line">
            <a:avLst/>
          </a:prstGeom>
          <a:ln w="15240">
            <a:solidFill>
              <a:srgbClr val="D2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94">
            <a:extLst>
              <a:ext uri="{FF2B5EF4-FFF2-40B4-BE49-F238E27FC236}">
                <a16:creationId xmlns:a16="http://schemas.microsoft.com/office/drawing/2014/main" id="{08E9EC1F-ED9B-55EA-9936-22B98B72FBCE}"/>
              </a:ext>
            </a:extLst>
          </p:cNvPr>
          <p:cNvCxnSpPr>
            <a:cxnSpLocks/>
          </p:cNvCxnSpPr>
          <p:nvPr/>
        </p:nvCxnSpPr>
        <p:spPr>
          <a:xfrm flipH="1">
            <a:off x="4112890" y="3780000"/>
            <a:ext cx="4351713" cy="0"/>
          </a:xfrm>
          <a:prstGeom prst="line">
            <a:avLst/>
          </a:prstGeom>
          <a:ln w="15240">
            <a:solidFill>
              <a:srgbClr val="D2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95">
            <a:extLst>
              <a:ext uri="{FF2B5EF4-FFF2-40B4-BE49-F238E27FC236}">
                <a16:creationId xmlns:a16="http://schemas.microsoft.com/office/drawing/2014/main" id="{A3381797-AA98-C900-0632-C2BAC1EEA076}"/>
              </a:ext>
            </a:extLst>
          </p:cNvPr>
          <p:cNvCxnSpPr>
            <a:cxnSpLocks/>
          </p:cNvCxnSpPr>
          <p:nvPr/>
        </p:nvCxnSpPr>
        <p:spPr>
          <a:xfrm>
            <a:off x="4119807" y="3780000"/>
            <a:ext cx="0" cy="709420"/>
          </a:xfrm>
          <a:prstGeom prst="line">
            <a:avLst/>
          </a:prstGeom>
          <a:ln w="15240">
            <a:solidFill>
              <a:srgbClr val="D2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96">
            <a:extLst>
              <a:ext uri="{FF2B5EF4-FFF2-40B4-BE49-F238E27FC236}">
                <a16:creationId xmlns:a16="http://schemas.microsoft.com/office/drawing/2014/main" id="{55717F06-1720-64AD-DFF6-906E65F13320}"/>
              </a:ext>
            </a:extLst>
          </p:cNvPr>
          <p:cNvSpPr txBox="1"/>
          <p:nvPr/>
        </p:nvSpPr>
        <p:spPr>
          <a:xfrm>
            <a:off x="7707161" y="3919213"/>
            <a:ext cx="9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 err="1">
                <a:solidFill>
                  <a:srgbClr val="B46464"/>
                </a:solidFill>
                <a:latin typeface="微软雅黑"/>
              </a:rPr>
              <a:t>上下文状态传递</a:t>
            </a:r>
            <a:endParaRPr sz="1000" b="1" dirty="0">
              <a:solidFill>
                <a:srgbClr val="B46464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224</Words>
  <Application>Microsoft Office PowerPoint</Application>
  <PresentationFormat>宽屏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 Zhou</cp:lastModifiedBy>
  <cp:revision>25</cp:revision>
  <dcterms:created xsi:type="dcterms:W3CDTF">2013-01-27T09:14:16Z</dcterms:created>
  <dcterms:modified xsi:type="dcterms:W3CDTF">2026-04-06T10:41:06Z</dcterms:modified>
  <cp:category/>
</cp:coreProperties>
</file>