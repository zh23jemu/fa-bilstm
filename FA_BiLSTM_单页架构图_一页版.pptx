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0000" y="165168"/>
            <a:ext cx="1116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dirty="0">
                <a:solidFill>
                  <a:srgbClr val="203A5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FA-</a:t>
            </a:r>
            <a:r>
              <a:rPr sz="2400" b="1" dirty="0" err="1">
                <a:solidFill>
                  <a:srgbClr val="203A5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BiLSTM</a:t>
            </a:r>
            <a:r>
              <a:rPr sz="2400" b="1" dirty="0">
                <a:solidFill>
                  <a:srgbClr val="203A5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sz="2400" b="1" dirty="0" err="1">
                <a:solidFill>
                  <a:srgbClr val="203A5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测井智能识别</a:t>
            </a:r>
            <a:r>
              <a:rPr lang="zh-CN" altLang="en-US" sz="2400" b="1" dirty="0">
                <a:solidFill>
                  <a:srgbClr val="203A5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网络结构图</a:t>
            </a:r>
            <a:endParaRPr sz="2400" b="1" dirty="0">
              <a:solidFill>
                <a:srgbClr val="203A5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700000" cy="5580000"/>
          </a:xfrm>
          <a:prstGeom prst="roundRect">
            <a:avLst/>
          </a:prstGeom>
          <a:solidFill>
            <a:srgbClr val="ECF2F9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900000"/>
            <a:ext cx="270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03A5C"/>
                </a:solidFill>
                <a:latin typeface="微软雅黑"/>
              </a:rPr>
              <a:t>1. 数据输入 (Data Input)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0000" y="900000"/>
            <a:ext cx="5580000" cy="5580000"/>
          </a:xfrm>
          <a:prstGeom prst="roundRect">
            <a:avLst>
              <a:gd name="adj" fmla="val 9970"/>
            </a:avLst>
          </a:prstGeom>
          <a:solidFill>
            <a:srgbClr val="ECF2F9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40000" y="900000"/>
            <a:ext cx="5580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203A5C"/>
                </a:solidFill>
                <a:latin typeface="微软雅黑"/>
              </a:rPr>
              <a:t>2. 核心网络 (FA-BiLSTM Engine)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0000" y="900000"/>
            <a:ext cx="2808000" cy="5580000"/>
          </a:xfrm>
          <a:prstGeom prst="roundRect">
            <a:avLst/>
          </a:prstGeom>
          <a:solidFill>
            <a:srgbClr val="ECF2F9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00000" y="911074"/>
            <a:ext cx="2808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 dirty="0">
                <a:solidFill>
                  <a:srgbClr val="203A5C"/>
                </a:solidFill>
                <a:latin typeface="微软雅黑"/>
              </a:rPr>
              <a:t>3. </a:t>
            </a:r>
            <a:r>
              <a:rPr sz="1600" b="1" dirty="0" err="1">
                <a:solidFill>
                  <a:srgbClr val="203A5C"/>
                </a:solidFill>
                <a:latin typeface="微软雅黑"/>
              </a:rPr>
              <a:t>预测输出</a:t>
            </a:r>
            <a:r>
              <a:rPr sz="1600" b="1" dirty="0">
                <a:solidFill>
                  <a:srgbClr val="203A5C"/>
                </a:solidFill>
                <a:latin typeface="微软雅黑"/>
              </a:rPr>
              <a:t> (Prediction Output)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0000" y="3600000"/>
            <a:ext cx="180000" cy="0"/>
          </a:xfrm>
          <a:prstGeom prst="line">
            <a:avLst/>
          </a:prstGeom>
          <a:ln w="381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0000" y="3600000"/>
            <a:ext cx="180000" cy="0"/>
          </a:xfrm>
          <a:prstGeom prst="line">
            <a:avLst/>
          </a:prstGeom>
          <a:ln w="3810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0000" y="1440000"/>
            <a:ext cx="23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微软雅黑"/>
              </a:rPr>
              <a:t>多维度连续测井参数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1980000"/>
            <a:ext cx="1800000" cy="3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微软雅黑"/>
              </a:rPr>
              <a:t>Sigma (俘获截面)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2000" y="2520000"/>
            <a:ext cx="1800000" cy="3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微软雅黑"/>
              </a:rPr>
              <a:t>C/O (碳氧比)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3060000"/>
            <a:ext cx="1800000" cy="3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000000"/>
                </a:solidFill>
                <a:latin typeface="微软雅黑"/>
              </a:rPr>
              <a:t>Ratio (非弹性比)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000" y="3780000"/>
            <a:ext cx="2340000" cy="21600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0000" y="3888000"/>
            <a:ext cx="234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微软雅黑"/>
              </a:rPr>
              <a:t>基于滑动窗口的时序构造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4320000"/>
            <a:ext cx="2124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微软雅黑"/>
              </a:rPr>
              <a:t>Window Size (L) = 10
通过沿井深滑动，将单点转化为包含上下文的时序片段：
(Batch, L, Features)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0000" y="1440000"/>
            <a:ext cx="5220000" cy="19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20000" y="1440000"/>
            <a:ext cx="52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03A5C"/>
                </a:solidFill>
                <a:latin typeface="微软雅黑"/>
              </a:rPr>
              <a:t>时序特征提取 (BiLSTM Layer)</a:t>
            </a:r>
          </a:p>
        </p:txBody>
      </p:sp>
      <p:sp>
        <p:nvSpPr>
          <p:cNvPr id="20" name="Oval 19"/>
          <p:cNvSpPr/>
          <p:nvPr/>
        </p:nvSpPr>
        <p:spPr>
          <a:xfrm>
            <a:off x="3780000" y="1872000"/>
            <a:ext cx="288000" cy="288000"/>
          </a:xfrm>
          <a:prstGeom prst="ellipse">
            <a:avLst/>
          </a:prstGeom>
          <a:solidFill>
            <a:srgbClr val="91C78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780000" y="2412000"/>
            <a:ext cx="288000" cy="288000"/>
          </a:xfrm>
          <a:prstGeom prst="ellipse">
            <a:avLst/>
          </a:prstGeom>
          <a:solidFill>
            <a:srgbClr val="7AAAD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>
            <a:cxnSpLocks/>
            <a:stCxn id="21" idx="0"/>
          </p:cNvCxnSpPr>
          <p:nvPr/>
        </p:nvCxnSpPr>
        <p:spPr>
          <a:xfrm flipV="1">
            <a:off x="3924000" y="2160000"/>
            <a:ext cx="0" cy="25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572000" y="1872000"/>
            <a:ext cx="288000" cy="288000"/>
          </a:xfrm>
          <a:prstGeom prst="ellipse">
            <a:avLst/>
          </a:prstGeom>
          <a:solidFill>
            <a:srgbClr val="91C78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572000" y="2412000"/>
            <a:ext cx="288000" cy="288000"/>
          </a:xfrm>
          <a:prstGeom prst="ellipse">
            <a:avLst/>
          </a:prstGeom>
          <a:solidFill>
            <a:srgbClr val="7AAAD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>
            <a:cxnSpLocks/>
            <a:stCxn id="25" idx="0"/>
          </p:cNvCxnSpPr>
          <p:nvPr/>
        </p:nvCxnSpPr>
        <p:spPr>
          <a:xfrm flipV="1">
            <a:off x="4716000" y="2160000"/>
            <a:ext cx="0" cy="25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364000" y="1872000"/>
            <a:ext cx="288000" cy="288000"/>
          </a:xfrm>
          <a:prstGeom prst="ellipse">
            <a:avLst/>
          </a:prstGeom>
          <a:solidFill>
            <a:srgbClr val="91C78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364000" y="2412000"/>
            <a:ext cx="288000" cy="288000"/>
          </a:xfrm>
          <a:prstGeom prst="ellipse">
            <a:avLst/>
          </a:prstGeom>
          <a:solidFill>
            <a:srgbClr val="7AAAD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>
            <a:cxnSpLocks/>
            <a:stCxn id="29" idx="0"/>
          </p:cNvCxnSpPr>
          <p:nvPr/>
        </p:nvCxnSpPr>
        <p:spPr>
          <a:xfrm flipV="1">
            <a:off x="5508000" y="2160000"/>
            <a:ext cx="0" cy="25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6156000" y="1872000"/>
            <a:ext cx="288000" cy="288000"/>
          </a:xfrm>
          <a:prstGeom prst="ellipse">
            <a:avLst/>
          </a:prstGeom>
          <a:solidFill>
            <a:srgbClr val="91C78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156000" y="2412000"/>
            <a:ext cx="288000" cy="288000"/>
          </a:xfrm>
          <a:prstGeom prst="ellipse">
            <a:avLst/>
          </a:prstGeom>
          <a:solidFill>
            <a:srgbClr val="7AAAD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>
            <a:cxnSpLocks/>
            <a:stCxn id="33" idx="0"/>
          </p:cNvCxnSpPr>
          <p:nvPr/>
        </p:nvCxnSpPr>
        <p:spPr>
          <a:xfrm flipV="1">
            <a:off x="6300000" y="2160000"/>
            <a:ext cx="0" cy="25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068000" y="2016000"/>
            <a:ext cx="504000" cy="0"/>
          </a:xfrm>
          <a:prstGeom prst="line">
            <a:avLst/>
          </a:prstGeom>
          <a:ln w="19050">
            <a:solidFill>
              <a:srgbClr val="91C7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4068000" y="2556000"/>
            <a:ext cx="504000" cy="0"/>
          </a:xfrm>
          <a:prstGeom prst="line">
            <a:avLst/>
          </a:prstGeom>
          <a:ln w="19050">
            <a:solidFill>
              <a:srgbClr val="7AA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860000" y="2016000"/>
            <a:ext cx="504000" cy="0"/>
          </a:xfrm>
          <a:prstGeom prst="line">
            <a:avLst/>
          </a:prstGeom>
          <a:ln w="19050">
            <a:solidFill>
              <a:srgbClr val="91C7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4860000" y="2556000"/>
            <a:ext cx="504000" cy="0"/>
          </a:xfrm>
          <a:prstGeom prst="line">
            <a:avLst/>
          </a:prstGeom>
          <a:ln w="19050">
            <a:solidFill>
              <a:srgbClr val="7AA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652000" y="2016000"/>
            <a:ext cx="504000" cy="0"/>
          </a:xfrm>
          <a:prstGeom prst="line">
            <a:avLst/>
          </a:prstGeom>
          <a:ln w="19050">
            <a:solidFill>
              <a:srgbClr val="91C7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5652000" y="2556000"/>
            <a:ext cx="504000" cy="0"/>
          </a:xfrm>
          <a:prstGeom prst="line">
            <a:avLst/>
          </a:prstGeom>
          <a:ln w="19050">
            <a:solidFill>
              <a:srgbClr val="7AAA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75155" y="2857195"/>
            <a:ext cx="3168000" cy="1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dirty="0" err="1">
                <a:solidFill>
                  <a:srgbClr val="000000"/>
                </a:solidFill>
                <a:latin typeface="微软雅黑"/>
              </a:rPr>
              <a:t>输入序列</a:t>
            </a:r>
            <a:r>
              <a:rPr sz="1100" b="0" dirty="0">
                <a:solidFill>
                  <a:srgbClr val="000000"/>
                </a:solidFill>
                <a:latin typeface="微软雅黑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微软雅黑"/>
              </a:rPr>
              <a:t>Xt</a:t>
            </a:r>
            <a:r>
              <a:rPr sz="1100" b="0" dirty="0">
                <a:solidFill>
                  <a:srgbClr val="000000"/>
                </a:solidFill>
                <a:latin typeface="微软雅黑"/>
              </a:rPr>
              <a:t> = [x_((t-L)), ..., </a:t>
            </a:r>
            <a:r>
              <a:rPr sz="1100" b="0" dirty="0" err="1">
                <a:solidFill>
                  <a:srgbClr val="000000"/>
                </a:solidFill>
                <a:latin typeface="微软雅黑"/>
              </a:rPr>
              <a:t>x_t</a:t>
            </a:r>
            <a:r>
              <a:rPr sz="1100" b="0" dirty="0">
                <a:solidFill>
                  <a:srgbClr val="000000"/>
                </a:solidFill>
                <a:latin typeface="微软雅黑"/>
              </a:rPr>
              <a:t>]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44000" y="2016000"/>
            <a:ext cx="504000" cy="25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44000" y="2268000"/>
            <a:ext cx="504000" cy="288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6948000" y="1993195"/>
            <a:ext cx="900000" cy="549610"/>
          </a:xfrm>
          <a:prstGeom prst="roundRect">
            <a:avLst/>
          </a:prstGeom>
          <a:solidFill>
            <a:srgbClr val="F0F0FA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 err="1">
                <a:solidFill>
                  <a:srgbClr val="000000"/>
                </a:solidFill>
                <a:latin typeface="微软雅黑"/>
              </a:rPr>
              <a:t>h_target</a:t>
            </a:r>
            <a:r>
              <a:rPr sz="1000" b="1" dirty="0">
                <a:solidFill>
                  <a:srgbClr val="000000"/>
                </a:solidFill>
                <a:latin typeface="微软雅黑"/>
              </a:rPr>
              <a:t>
(</a:t>
            </a:r>
            <a:r>
              <a:rPr sz="1000" b="1" dirty="0" err="1">
                <a:solidFill>
                  <a:srgbClr val="000000"/>
                </a:solidFill>
                <a:latin typeface="微软雅黑"/>
              </a:rPr>
              <a:t>上下文特征</a:t>
            </a:r>
            <a:r>
              <a:rPr sz="1000" b="1" dirty="0">
                <a:solidFill>
                  <a:srgbClr val="000000"/>
                </a:solidFill>
                <a:latin typeface="微软雅黑"/>
              </a:rPr>
              <a:t>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0000" y="3096000"/>
            <a:ext cx="5220000" cy="28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646464"/>
                </a:solidFill>
                <a:latin typeface="微软雅黑"/>
              </a:rPr>
              <a:t>说明：双向LSTM分别捕捉“由浅至深”和“由深至浅”的地质趋势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20000" y="3600000"/>
            <a:ext cx="5220000" cy="27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20000" y="3600000"/>
            <a:ext cx="522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03A5C"/>
                </a:solidFill>
                <a:latin typeface="微软雅黑"/>
              </a:rPr>
              <a:t>特征注意力门控 (Feature Attention Gate)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00000" y="4320000"/>
            <a:ext cx="1007999" cy="720000"/>
          </a:xfrm>
          <a:prstGeom prst="roundRect">
            <a:avLst/>
          </a:prstGeom>
          <a:solidFill>
            <a:srgbClr val="D9EEF3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 err="1">
                <a:solidFill>
                  <a:srgbClr val="000000"/>
                </a:solidFill>
                <a:latin typeface="微软雅黑"/>
              </a:rPr>
              <a:t>h_target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
(</a:t>
            </a:r>
            <a:r>
              <a:rPr sz="1100" b="1" dirty="0" err="1">
                <a:solidFill>
                  <a:srgbClr val="000000"/>
                </a:solidFill>
                <a:latin typeface="微软雅黑"/>
              </a:rPr>
              <a:t>时序上下文表示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00000" y="5292000"/>
            <a:ext cx="1007999" cy="720000"/>
          </a:xfrm>
          <a:prstGeom prst="roundRect">
            <a:avLst/>
          </a:prstGeom>
          <a:solidFill>
            <a:srgbClr val="F7E7DC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 err="1">
                <a:solidFill>
                  <a:srgbClr val="000000"/>
                </a:solidFill>
                <a:latin typeface="微软雅黑"/>
              </a:rPr>
              <a:t>x_target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
(</a:t>
            </a:r>
            <a:r>
              <a:rPr sz="1100" b="1" dirty="0" err="1">
                <a:solidFill>
                  <a:srgbClr val="000000"/>
                </a:solidFill>
                <a:latin typeface="微软雅黑"/>
              </a:rPr>
              <a:t>当前深度物理特征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608000" y="4536000"/>
            <a:ext cx="612000" cy="432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08000" y="5328000"/>
            <a:ext cx="612000" cy="468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5220000" y="4860000"/>
            <a:ext cx="576000" cy="576000"/>
          </a:xfrm>
          <a:prstGeom prst="ellipse">
            <a:avLst/>
          </a:prstGeom>
          <a:solidFill>
            <a:srgbClr val="E9E3F1"/>
          </a:solidFill>
          <a:ln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220000" y="4860000"/>
            <a:ext cx="576000" cy="57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微软雅黑"/>
              </a:rPr>
              <a:t>评分
函数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796000" y="5148000"/>
            <a:ext cx="324000" cy="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120000" y="4716000"/>
            <a:ext cx="900000" cy="864000"/>
          </a:xfrm>
          <a:prstGeom prst="roundRect">
            <a:avLst/>
          </a:prstGeom>
          <a:solidFill>
            <a:srgbClr val="E4EFE0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 err="1">
                <a:solidFill>
                  <a:srgbClr val="000000"/>
                </a:solidFill>
                <a:latin typeface="微软雅黑"/>
              </a:rPr>
              <a:t>Sigmoid激活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
</a:t>
            </a:r>
            <a:r>
              <a:rPr sz="1100" b="1" dirty="0" err="1">
                <a:solidFill>
                  <a:srgbClr val="000000"/>
                </a:solidFill>
                <a:latin typeface="微软雅黑"/>
              </a:rPr>
              <a:t>分配权重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(α)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020000" y="5148000"/>
            <a:ext cx="468000" cy="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104000" y="6012000"/>
            <a:ext cx="0" cy="144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104000" y="6156000"/>
            <a:ext cx="3744000" cy="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848000" y="5436000"/>
            <a:ext cx="0" cy="720000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488000" y="4680000"/>
            <a:ext cx="900000" cy="936000"/>
          </a:xfrm>
          <a:prstGeom prst="roundRect">
            <a:avLst/>
          </a:prstGeom>
          <a:solidFill>
            <a:srgbClr val="FFF5E6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 err="1">
                <a:solidFill>
                  <a:srgbClr val="000000"/>
                </a:solidFill>
                <a:latin typeface="微软雅黑"/>
              </a:rPr>
              <a:t>特征贡献度加权</a:t>
            </a:r>
            <a:r>
              <a:rPr sz="1100" b="1" dirty="0">
                <a:solidFill>
                  <a:srgbClr val="000000"/>
                </a:solidFill>
                <a:latin typeface="微软雅黑"/>
              </a:rPr>
              <a:t>
α ⊙ </a:t>
            </a:r>
            <a:r>
              <a:rPr sz="1100" b="1" dirty="0" err="1">
                <a:solidFill>
                  <a:srgbClr val="000000"/>
                </a:solidFill>
                <a:latin typeface="微软雅黑"/>
              </a:rPr>
              <a:t>x_target</a:t>
            </a:r>
            <a:endParaRPr sz="1100" b="1" dirty="0">
              <a:solidFill>
                <a:srgbClr val="000000"/>
              </a:solidFill>
              <a:latin typeface="微软雅黑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3599999" y="4009195"/>
            <a:ext cx="4939701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dirty="0" err="1">
                <a:solidFill>
                  <a:srgbClr val="646464"/>
                </a:solidFill>
                <a:latin typeface="微软雅黑"/>
              </a:rPr>
              <a:t>逻辑：上下文</a:t>
            </a:r>
            <a:r>
              <a:rPr sz="1100" b="0" dirty="0">
                <a:solidFill>
                  <a:srgbClr val="646464"/>
                </a:solidFill>
                <a:latin typeface="微软雅黑"/>
              </a:rPr>
              <a:t> </a:t>
            </a:r>
            <a:r>
              <a:rPr sz="1100" b="0" dirty="0" err="1">
                <a:solidFill>
                  <a:srgbClr val="646464"/>
                </a:solidFill>
                <a:latin typeface="微软雅黑"/>
              </a:rPr>
              <a:t>h_target</a:t>
            </a:r>
            <a:r>
              <a:rPr sz="1100" b="0" dirty="0">
                <a:solidFill>
                  <a:srgbClr val="646464"/>
                </a:solidFill>
                <a:latin typeface="微软雅黑"/>
              </a:rPr>
              <a:t> </a:t>
            </a:r>
            <a:r>
              <a:rPr sz="1100" b="0" dirty="0" err="1">
                <a:solidFill>
                  <a:srgbClr val="646464"/>
                </a:solidFill>
                <a:latin typeface="微软雅黑"/>
              </a:rPr>
              <a:t>决定当前环境下，各个物理参数</a:t>
            </a:r>
            <a:r>
              <a:rPr sz="1100" b="0" dirty="0">
                <a:solidFill>
                  <a:srgbClr val="646464"/>
                </a:solidFill>
                <a:latin typeface="微软雅黑"/>
              </a:rPr>
              <a:t> </a:t>
            </a:r>
            <a:r>
              <a:rPr sz="1100" b="0" dirty="0" err="1">
                <a:solidFill>
                  <a:srgbClr val="646464"/>
                </a:solidFill>
                <a:latin typeface="微软雅黑"/>
              </a:rPr>
              <a:t>x_target</a:t>
            </a:r>
            <a:r>
              <a:rPr sz="1100" b="0" dirty="0">
                <a:solidFill>
                  <a:srgbClr val="646464"/>
                </a:solidFill>
                <a:latin typeface="微软雅黑"/>
              </a:rPr>
              <a:t> </a:t>
            </a:r>
            <a:r>
              <a:rPr sz="1100" b="0" dirty="0" err="1">
                <a:solidFill>
                  <a:srgbClr val="646464"/>
                </a:solidFill>
                <a:latin typeface="微软雅黑"/>
              </a:rPr>
              <a:t>的贡献大小</a:t>
            </a:r>
            <a:endParaRPr sz="1100" b="0" dirty="0">
              <a:solidFill>
                <a:srgbClr val="646464"/>
              </a:solidFill>
              <a:latin typeface="微软雅黑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180000" y="1519512"/>
            <a:ext cx="2448000" cy="11984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180000" y="1519513"/>
            <a:ext cx="2448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203A5C"/>
                </a:solidFill>
                <a:latin typeface="微软雅黑"/>
              </a:rPr>
              <a:t>多尺度特征融合</a:t>
            </a:r>
            <a:endParaRPr sz="1400" b="1" dirty="0">
              <a:solidFill>
                <a:srgbClr val="203A5C"/>
              </a:solidFill>
              <a:latin typeface="微软雅黑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180000" y="1811381"/>
            <a:ext cx="2448000" cy="8617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dirty="0" err="1">
                <a:solidFill>
                  <a:srgbClr val="000000"/>
                </a:solidFill>
                <a:latin typeface="微软雅黑"/>
              </a:rPr>
              <a:t>拼接上下文与加权特征</a:t>
            </a:r>
            <a:r>
              <a:rPr sz="1000" b="0" dirty="0">
                <a:solidFill>
                  <a:srgbClr val="000000"/>
                </a:solidFill>
                <a:latin typeface="微软雅黑"/>
              </a:rPr>
              <a:t>：
[ </a:t>
            </a:r>
            <a:r>
              <a:rPr sz="1000" b="0" dirty="0" err="1">
                <a:solidFill>
                  <a:srgbClr val="000000"/>
                </a:solidFill>
                <a:latin typeface="微软雅黑"/>
              </a:rPr>
              <a:t>h_target</a:t>
            </a:r>
            <a:r>
              <a:rPr sz="1000" b="0" dirty="0">
                <a:solidFill>
                  <a:srgbClr val="000000"/>
                </a:solidFill>
                <a:latin typeface="微软雅黑"/>
              </a:rPr>
              <a:t>,
  </a:t>
            </a:r>
            <a:r>
              <a:rPr sz="1000" b="0" dirty="0" err="1">
                <a:solidFill>
                  <a:srgbClr val="000000"/>
                </a:solidFill>
                <a:latin typeface="微软雅黑"/>
              </a:rPr>
              <a:t>x_target</a:t>
            </a:r>
            <a:r>
              <a:rPr sz="1000" b="0" dirty="0">
                <a:solidFill>
                  <a:srgbClr val="000000"/>
                </a:solidFill>
                <a:latin typeface="微软雅黑"/>
              </a:rPr>
              <a:t>,
  </a:t>
            </a:r>
            <a:r>
              <a:rPr sz="1000" b="0" dirty="0" err="1">
                <a:solidFill>
                  <a:srgbClr val="000000"/>
                </a:solidFill>
                <a:latin typeface="微软雅黑"/>
              </a:rPr>
              <a:t>weighted_x</a:t>
            </a:r>
            <a:r>
              <a:rPr sz="1000" b="0" dirty="0">
                <a:solidFill>
                  <a:srgbClr val="000000"/>
                </a:solidFill>
                <a:latin typeface="微软雅黑"/>
              </a:rPr>
              <a:t> ]
</a:t>
            </a:r>
            <a:r>
              <a:rPr sz="1000" b="0" dirty="0" err="1">
                <a:solidFill>
                  <a:srgbClr val="000000"/>
                </a:solidFill>
                <a:latin typeface="微软雅黑"/>
              </a:rPr>
              <a:t>送入全连接层</a:t>
            </a:r>
            <a:endParaRPr sz="1000" b="0" dirty="0">
              <a:solidFill>
                <a:srgbClr val="000000"/>
              </a:solidFill>
              <a:latin typeface="微软雅黑"/>
            </a:endParaRPr>
          </a:p>
        </p:txBody>
      </p:sp>
      <p:cxnSp>
        <p:nvCxnSpPr>
          <p:cNvPr id="66" name="Connector 65"/>
          <p:cNvCxnSpPr>
            <a:cxnSpLocks/>
            <a:stCxn id="63" idx="2"/>
          </p:cNvCxnSpPr>
          <p:nvPr/>
        </p:nvCxnSpPr>
        <p:spPr>
          <a:xfrm>
            <a:off x="10404000" y="2717999"/>
            <a:ext cx="0" cy="342001"/>
          </a:xfrm>
          <a:prstGeom prst="line">
            <a:avLst/>
          </a:prstGeom>
          <a:ln w="19050">
            <a:solidFill>
              <a:srgbClr val="646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9180000" y="3060000"/>
            <a:ext cx="2448000" cy="324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8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80000" y="3060000"/>
            <a:ext cx="2448000" cy="43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03A5C"/>
                </a:solidFill>
                <a:latin typeface="微软雅黑"/>
              </a:rPr>
              <a:t>多阶段综合输出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60000" y="3780000"/>
            <a:ext cx="2088000" cy="540000"/>
          </a:xfrm>
          <a:prstGeom prst="roundRect">
            <a:avLst/>
          </a:prstGeom>
          <a:solidFill>
            <a:srgbClr val="FAF0F0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微软雅黑"/>
              </a:rPr>
              <a:t>1. 分类标签 (Gas/Oil/ 0/1)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60000" y="4608000"/>
            <a:ext cx="2088000" cy="540000"/>
          </a:xfrm>
          <a:prstGeom prst="roundRect">
            <a:avLst/>
          </a:prstGeom>
          <a:solidFill>
            <a:srgbClr val="F0FAF0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微软雅黑"/>
              </a:rPr>
              <a:t>2. 储层指数 (平滑概率曲线)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60000" y="5436000"/>
            <a:ext cx="2088000" cy="540000"/>
          </a:xfrm>
          <a:prstGeom prst="roundRect">
            <a:avLst/>
          </a:prstGeom>
          <a:solidFill>
            <a:srgbClr val="F0F0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微软雅黑"/>
              </a:rPr>
              <a:t>3. 参数敏感性 (α响应曲线)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197</Words>
  <Application>Microsoft Office PowerPoint</Application>
  <PresentationFormat>宽屏</PresentationFormat>
  <Paragraphs>27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Hao Zhou</cp:lastModifiedBy>
  <cp:revision>5</cp:revision>
  <dcterms:created xsi:type="dcterms:W3CDTF">2013-01-27T09:14:16Z</dcterms:created>
  <dcterms:modified xsi:type="dcterms:W3CDTF">2026-04-05T10:57:48Z</dcterms:modified>
  <cp:category/>
</cp:coreProperties>
</file>