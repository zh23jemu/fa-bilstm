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40000" y="2160000"/>
            <a:ext cx="9312120" cy="252000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1A3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0" y="2700000"/>
            <a:ext cx="86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3668"/>
                </a:solidFill>
                <a:latin typeface="微软雅黑"/>
              </a:rPr>
              <a:t>基于 FA-BiLSTM 的三阶段分层流体识别框架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600000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C757D"/>
                </a:solidFill>
                <a:latin typeface="微软雅黑"/>
              </a:rPr>
              <a:t>网络架构、注意力机制与数据流分析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A3668"/>
                </a:solidFill>
                <a:latin typeface="微软雅黑"/>
              </a:rPr>
              <a:t>1. 整体框架设计 (Overall Framework)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0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微软雅黑"/>
              </a:rPr>
              <a:t>参考论文的三阶段识别逻辑，结合深度卷积时序特征与特征动态权重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440000"/>
            <a:ext cx="2880000" cy="468000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529"/>
                </a:solidFill>
                <a:latin typeface="微软雅黑"/>
              </a:rPr>
              <a:t>数据输入
(测井曲线组合)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0" y="1440000"/>
            <a:ext cx="5040000" cy="4680000"/>
          </a:xfrm>
          <a:prstGeom prst="roundRect">
            <a:avLst/>
          </a:prstGeom>
          <a:solidFill>
            <a:srgbClr val="E6FFE6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529"/>
                </a:solidFill>
                <a:latin typeface="微软雅黑"/>
              </a:rPr>
              <a:t>核心引擎
(FA-BiLSTM 网络)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0" y="1440000"/>
            <a:ext cx="2880000" cy="4680000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529"/>
                </a:solidFill>
                <a:latin typeface="微软雅黑"/>
              </a:rPr>
              <a:t>三步识别流程
(分级输出)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0000" y="3780000"/>
            <a:ext cx="360000" cy="0"/>
          </a:xfrm>
          <a:prstGeom prst="line">
            <a:avLst/>
          </a:prstGeom>
          <a:ln w="38100">
            <a:solidFill>
              <a:srgbClr val="49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40000" y="3780000"/>
            <a:ext cx="360000" cy="0"/>
          </a:xfrm>
          <a:prstGeom prst="line">
            <a:avLst/>
          </a:prstGeom>
          <a:ln w="38100">
            <a:solidFill>
              <a:srgbClr val="49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A3668"/>
                </a:solidFill>
                <a:latin typeface="微软雅黑"/>
              </a:rPr>
              <a:t>2. 输入：多维度测井参数与滑动窗口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微软雅黑"/>
              </a:rPr>
              <a:t>程序输入包含多维度测井特征，通过滑动窗口捕捉井段垂直方向上的时序关联性。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2160000"/>
            <a:ext cx="2160000" cy="144000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529"/>
                </a:solidFill>
                <a:latin typeface="微软雅黑"/>
              </a:rPr>
              <a:t>特征 A: Sigma
(俘获截面)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0000" y="2160000"/>
            <a:ext cx="2160000" cy="144000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529"/>
                </a:solidFill>
                <a:latin typeface="微软雅黑"/>
              </a:rPr>
              <a:t>特征 B: C/O
(碳氧比)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0" y="2160000"/>
            <a:ext cx="2160000" cy="144000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529"/>
                </a:solidFill>
                <a:latin typeface="微软雅黑"/>
              </a:rPr>
              <a:t>特征 C: Ratio
(非弹性/俘获比)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80000" y="2160000"/>
            <a:ext cx="2880000" cy="144000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529"/>
                </a:solidFill>
                <a:latin typeface="微软雅黑"/>
              </a:rPr>
              <a:t>... 等 10+ 维度
(根据模型动态加载)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3960000"/>
            <a:ext cx="10440000" cy="21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000" y="4140000"/>
            <a:ext cx="97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微软雅黑"/>
              </a:rPr>
              <a:t>时序滑动窗口 (Sliding Window)
• 窗口大小 (Window Size): 10
• 作用：通过建模当前深度点及其上方 9 个采样点的组合特征，识别沉积环境与地质接触面的变化。
• 数据形状: (Batch, 10, Features_Dim)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A3668"/>
                </a:solidFill>
                <a:latin typeface="微软雅黑"/>
              </a:rPr>
              <a:t>3. 主体：BiLSTM 时序特征提取网络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07999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微软雅黑"/>
              </a:rPr>
              <a:t>BiLSTM (Bidirectional LSTM) 是网络的核心部分，负责提取井深序列中的上下文特征。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40000" y="2160000"/>
            <a:ext cx="54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12529"/>
                </a:solidFill>
                <a:latin typeface="微软雅黑"/>
              </a:rPr>
              <a:t>X_0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0000" y="3240000"/>
            <a:ext cx="720000" cy="1440000"/>
          </a:xfrm>
          <a:prstGeom prst="roundRect">
            <a:avLst/>
          </a:prstGeom>
          <a:solidFill>
            <a:srgbClr val="007B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12529"/>
                </a:solidFill>
                <a:latin typeface="微软雅黑"/>
              </a:rPr>
              <a:t>BiLSTM cell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10000" y="2700000"/>
            <a:ext cx="0" cy="540000"/>
          </a:xfrm>
          <a:prstGeom prst="line">
            <a:avLst/>
          </a:prstGeom>
          <a:ln w="12700">
            <a:solidFill>
              <a:srgbClr val="49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60000" y="3780000"/>
            <a:ext cx="1080000" cy="0"/>
          </a:xfrm>
          <a:prstGeom prst="line">
            <a:avLst/>
          </a:prstGeom>
          <a:ln w="25400">
            <a:solidFill>
              <a:srgbClr val="00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160000" y="4140000"/>
            <a:ext cx="1080000" cy="0"/>
          </a:xfrm>
          <a:prstGeom prst="line">
            <a:avLst/>
          </a:prstGeom>
          <a:ln w="2540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40000" y="2160000"/>
            <a:ext cx="54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12529"/>
                </a:solidFill>
                <a:latin typeface="微软雅黑"/>
              </a:rPr>
              <a:t>X_1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0" y="3240000"/>
            <a:ext cx="720000" cy="1440000"/>
          </a:xfrm>
          <a:prstGeom prst="roundRect">
            <a:avLst/>
          </a:prstGeom>
          <a:solidFill>
            <a:srgbClr val="007B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12529"/>
                </a:solidFill>
                <a:latin typeface="微软雅黑"/>
              </a:rPr>
              <a:t>BiLSTM cell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10000" y="2700000"/>
            <a:ext cx="0" cy="540000"/>
          </a:xfrm>
          <a:prstGeom prst="line">
            <a:avLst/>
          </a:prstGeom>
          <a:ln w="12700">
            <a:solidFill>
              <a:srgbClr val="49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60000" y="3780000"/>
            <a:ext cx="1080000" cy="0"/>
          </a:xfrm>
          <a:prstGeom prst="line">
            <a:avLst/>
          </a:prstGeom>
          <a:ln w="25400">
            <a:solidFill>
              <a:srgbClr val="00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960000" y="4140000"/>
            <a:ext cx="1080000" cy="0"/>
          </a:xfrm>
          <a:prstGeom prst="line">
            <a:avLst/>
          </a:prstGeom>
          <a:ln w="2540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40000" y="2160000"/>
            <a:ext cx="54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12529"/>
                </a:solidFill>
                <a:latin typeface="微软雅黑"/>
              </a:rPr>
              <a:t>X_2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0000" y="3240000"/>
            <a:ext cx="720000" cy="1440000"/>
          </a:xfrm>
          <a:prstGeom prst="roundRect">
            <a:avLst/>
          </a:prstGeom>
          <a:solidFill>
            <a:srgbClr val="007B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12529"/>
                </a:solidFill>
                <a:latin typeface="微软雅黑"/>
              </a:rPr>
              <a:t>BiLSTM cell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10000" y="2700000"/>
            <a:ext cx="0" cy="540000"/>
          </a:xfrm>
          <a:prstGeom prst="line">
            <a:avLst/>
          </a:prstGeom>
          <a:ln w="12700">
            <a:solidFill>
              <a:srgbClr val="49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760000" y="3780000"/>
            <a:ext cx="1080000" cy="0"/>
          </a:xfrm>
          <a:prstGeom prst="line">
            <a:avLst/>
          </a:prstGeom>
          <a:ln w="25400">
            <a:solidFill>
              <a:srgbClr val="00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60000" y="4140000"/>
            <a:ext cx="1080000" cy="0"/>
          </a:xfrm>
          <a:prstGeom prst="line">
            <a:avLst/>
          </a:prstGeom>
          <a:ln w="2540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40000" y="2160000"/>
            <a:ext cx="54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12529"/>
                </a:solidFill>
                <a:latin typeface="微软雅黑"/>
              </a:rPr>
              <a:t>X_3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40000" y="3240000"/>
            <a:ext cx="720000" cy="1440000"/>
          </a:xfrm>
          <a:prstGeom prst="roundRect">
            <a:avLst/>
          </a:prstGeom>
          <a:solidFill>
            <a:srgbClr val="007B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12529"/>
                </a:solidFill>
                <a:latin typeface="微软雅黑"/>
              </a:rPr>
              <a:t>BiLSTM cell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10000" y="2700000"/>
            <a:ext cx="0" cy="540000"/>
          </a:xfrm>
          <a:prstGeom prst="line">
            <a:avLst/>
          </a:prstGeom>
          <a:ln w="12700">
            <a:solidFill>
              <a:srgbClr val="49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60000" y="3780000"/>
            <a:ext cx="1080000" cy="0"/>
          </a:xfrm>
          <a:prstGeom prst="line">
            <a:avLst/>
          </a:prstGeom>
          <a:ln w="25400">
            <a:solidFill>
              <a:srgbClr val="00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560000" y="4140000"/>
            <a:ext cx="1080000" cy="0"/>
          </a:xfrm>
          <a:prstGeom prst="line">
            <a:avLst/>
          </a:prstGeom>
          <a:ln w="2540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640000" y="2160000"/>
            <a:ext cx="54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12529"/>
                </a:solidFill>
                <a:latin typeface="微软雅黑"/>
              </a:rPr>
              <a:t>X_4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0000" y="3240000"/>
            <a:ext cx="720000" cy="1440000"/>
          </a:xfrm>
          <a:prstGeom prst="roundRect">
            <a:avLst/>
          </a:prstGeom>
          <a:solidFill>
            <a:srgbClr val="007B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12529"/>
                </a:solidFill>
                <a:latin typeface="微软雅黑"/>
              </a:rPr>
              <a:t>BiLSTM cell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10000" y="2700000"/>
            <a:ext cx="0" cy="540000"/>
          </a:xfrm>
          <a:prstGeom prst="line">
            <a:avLst/>
          </a:prstGeom>
          <a:ln w="12700">
            <a:solidFill>
              <a:srgbClr val="49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20000" y="5040000"/>
            <a:ext cx="104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668"/>
                </a:solidFill>
                <a:latin typeface="微软雅黑"/>
              </a:rPr>
              <a:t>代码实现 (PyTorch):
self.lstm = nn.LSTM(input_size, hidden_size, bidirectional=True, batch_first=True)
• bidirectional=True: 同时学习“由浅及深”和“由深及浅”的地层趋势信息。
• hidden_size=16: 控制模型复杂度，平衡泛化能力与参数量。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A3668"/>
                </a:solidFill>
                <a:latin typeface="微软雅黑"/>
              </a:rPr>
              <a:t>4. 特征注意力机制 (Feature Attention Gate)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90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微软雅黑"/>
              </a:rPr>
              <a:t>注意力机制不再对时域加权，而是对“特征维度”进行动态加权，识别当前层段最敏感的特征。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800000"/>
            <a:ext cx="2160000" cy="108000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12529"/>
                </a:solidFill>
                <a:latin typeface="微软雅黑"/>
              </a:rPr>
              <a:t>h_context
(BiLSTM 时序特征)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0" y="1800000"/>
            <a:ext cx="2160000" cy="1080000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12529"/>
                </a:solidFill>
                <a:latin typeface="微软雅黑"/>
              </a:rPr>
              <a:t>x_current
(当前输入特征)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600000"/>
            <a:ext cx="5040000" cy="1440000"/>
          </a:xfrm>
          <a:prstGeom prst="roundRect">
            <a:avLst/>
          </a:prstGeom>
          <a:solidFill>
            <a:srgbClr val="F0E6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529"/>
                </a:solidFill>
                <a:latin typeface="微软雅黑"/>
              </a:rPr>
              <a:t>计算评分 Score:
v(tanh(W_h * h + W_x * x))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2880000"/>
            <a:ext cx="0" cy="720000"/>
          </a:xfrm>
          <a:prstGeom prst="line">
            <a:avLst/>
          </a:prstGeom>
          <a:ln w="19050">
            <a:solidFill>
              <a:srgbClr val="49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80000" y="2880000"/>
            <a:ext cx="0" cy="720000"/>
          </a:xfrm>
          <a:prstGeom prst="line">
            <a:avLst/>
          </a:prstGeom>
          <a:ln w="19050">
            <a:solidFill>
              <a:srgbClr val="49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60000" y="4320000"/>
            <a:ext cx="720000" cy="0"/>
          </a:xfrm>
          <a:prstGeom prst="line">
            <a:avLst/>
          </a:prstGeom>
          <a:ln w="19050">
            <a:solidFill>
              <a:srgbClr val="49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80000" y="3600000"/>
            <a:ext cx="4320000" cy="1440000"/>
          </a:xfrm>
          <a:prstGeom prst="roundRect">
            <a:avLst/>
          </a:prstGeom>
          <a:solidFill>
            <a:srgbClr val="E6FFE6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12529"/>
                </a:solidFill>
                <a:latin typeface="微软雅黑"/>
              </a:rPr>
              <a:t>特征权重 α (Sigmoid/Softmax)
α1=Sigma, α2=CO, α3=Ratio...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5400000"/>
            <a:ext cx="10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529"/>
                </a:solidFill>
                <a:latin typeface="微软雅黑"/>
              </a:rPr>
              <a:t>注意力作用机制：
Weighted_X = α ⊙ x_current
实现“特征贡献度”的自动排序。例如：在低孔隙度地层，模型自动提高 C/O 的权重 α2。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A3668"/>
                </a:solidFill>
                <a:latin typeface="微软雅黑"/>
              </a:rPr>
              <a:t>5. 输出：多目标识别结果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900000"/>
            <a:ext cx="104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微软雅黑"/>
              </a:rPr>
              <a:t>模型输出层将 BiLSTM 时序特征与注意力加权后的特征融合，得出最终结论。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800000"/>
            <a:ext cx="10440000" cy="108000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529"/>
                </a:solidFill>
                <a:latin typeface="微软雅黑"/>
              </a:rPr>
              <a:t>特征融合: [h_target, x_target, weighted_x]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0000" y="2880000"/>
            <a:ext cx="0" cy="720000"/>
          </a:xfrm>
          <a:prstGeom prst="line">
            <a:avLst/>
          </a:prstGeom>
          <a:ln w="19050">
            <a:solidFill>
              <a:srgbClr val="495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20000" y="3600000"/>
            <a:ext cx="3240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529"/>
                </a:solidFill>
                <a:latin typeface="微软雅黑"/>
              </a:rPr>
              <a:t>1. 分类标签
(Gas / Oil / Water)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0" y="3600000"/>
            <a:ext cx="3240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529"/>
                </a:solidFill>
                <a:latin typeface="微软雅黑"/>
              </a:rPr>
              <a:t>2. 连续流体指数
(I_RQI, I_GRI, I_OII)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0" y="3600000"/>
            <a:ext cx="3240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5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529"/>
                </a:solidFill>
                <a:latin typeface="微软雅黑"/>
              </a:rPr>
              <a:t>3. 特征重要度 α
(可解释性分析)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576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微软雅黑"/>
              </a:rPr>
              <a:t>模型输出 shape: (Batch, Num_Classes) 和 (Batch, Num_Features)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A3668"/>
                </a:solidFill>
                <a:latin typeface="微软雅黑"/>
              </a:rPr>
              <a:t>结论与亮点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800000"/>
            <a:ext cx="97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12529"/>
                </a:solidFill>
                <a:latin typeface="微软雅黑"/>
              </a:rPr>
              <a:t>• 核心架构: BiLSTM 时序建模 + Feature Attention 特征门控。
• 输入: 多维度测井深度序列数据 (Window=10)。
• 特征注意力: 解决了多参数测井响应在不同地层环境下的权重不确定性。
• 输出: 涵盖分类、连续曲线与权重解释，提供全方位决策支持。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