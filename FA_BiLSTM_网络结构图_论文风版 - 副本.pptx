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25999"/>
            <a:ext cx="108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03A5C"/>
                </a:solidFill>
                <a:latin typeface="Microsoft YaHei"/>
              </a:rPr>
              <a:t>基于 BiLSTM 与特征注意力机制的测井智能识别框架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720000"/>
            <a:ext cx="3168000" cy="4968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" y="720000"/>
            <a:ext cx="3168000" cy="324000"/>
          </a:xfrm>
          <a:prstGeom prst="rect">
            <a:avLst/>
          </a:prstGeom>
          <a:solidFill>
            <a:srgbClr val="D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756000"/>
            <a:ext cx="3168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Microsoft YaHei"/>
              </a:rPr>
              <a:t>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1999" y="720000"/>
            <a:ext cx="4536000" cy="4968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1999" y="720000"/>
            <a:ext cx="4536000" cy="324000"/>
          </a:xfrm>
          <a:prstGeom prst="rect">
            <a:avLst/>
          </a:prstGeom>
          <a:solidFill>
            <a:srgbClr val="D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1999" y="756000"/>
            <a:ext cx="4536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Microsoft YaHei"/>
              </a:rPr>
              <a:t>核心网络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4000" y="720000"/>
            <a:ext cx="3456000" cy="4968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24000" y="720000"/>
            <a:ext cx="3456000" cy="324000"/>
          </a:xfrm>
          <a:prstGeom prst="rect">
            <a:avLst/>
          </a:prstGeom>
          <a:solidFill>
            <a:srgbClr val="DE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4000" y="756000"/>
            <a:ext cx="3456000" cy="19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Microsoft YaHei"/>
              </a:rPr>
              <a:t>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080000"/>
            <a:ext cx="2880000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Microsoft YaHei"/>
              </a:rPr>
              <a:t>多参数测井输入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1440000"/>
            <a:ext cx="792000" cy="2592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1504800"/>
            <a:ext cx="792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B3440"/>
                </a:solidFill>
                <a:latin typeface="Microsoft YaHei"/>
              </a:rPr>
              <a:t>MLR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000" y="21384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" y="25848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000" y="30312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000" y="34776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000" y="1782000"/>
            <a:ext cx="107999" cy="72000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37999" y="1800000"/>
            <a:ext cx="108001" cy="54000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6000" y="1800000"/>
            <a:ext cx="90000" cy="125999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6000" y="1872000"/>
            <a:ext cx="126000" cy="53999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2000" y="1872000"/>
            <a:ext cx="108000" cy="162000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70000" y="1962000"/>
            <a:ext cx="126000" cy="72000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96000" y="1962000"/>
            <a:ext cx="90000" cy="162000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86000" y="2070000"/>
            <a:ext cx="89999" cy="54000"/>
          </a:xfrm>
          <a:prstGeom prst="line">
            <a:avLst/>
          </a:prstGeom>
          <a:ln w="2794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1200" y="2538000"/>
            <a:ext cx="125999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40000" y="1440000"/>
            <a:ext cx="792000" cy="2592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0000" y="1504800"/>
            <a:ext cx="792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B3440"/>
                </a:solidFill>
                <a:latin typeface="Microsoft YaHei"/>
              </a:rPr>
              <a:t>AMPST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94000" y="21384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94000" y="25848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94000" y="30312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94000" y="3477600"/>
            <a:ext cx="684000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530000" y="1782000"/>
            <a:ext cx="108000" cy="72000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38000" y="1800000"/>
            <a:ext cx="107999" cy="54000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45999" y="1800000"/>
            <a:ext cx="90000" cy="125999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35999" y="1872000"/>
            <a:ext cx="126001" cy="53999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62000" y="1872000"/>
            <a:ext cx="108000" cy="162000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70000" y="1962000"/>
            <a:ext cx="126000" cy="72000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96000" y="1962000"/>
            <a:ext cx="90000" cy="162000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86000" y="2070000"/>
            <a:ext cx="90000" cy="54000"/>
          </a:xfrm>
          <a:prstGeom prst="line">
            <a:avLst/>
          </a:prstGeom>
          <a:ln w="2794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11200" y="2538000"/>
            <a:ext cx="125999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40000" y="1440000"/>
            <a:ext cx="792000" cy="25920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40000" y="1504800"/>
            <a:ext cx="792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B3440"/>
                </a:solidFill>
                <a:latin typeface="Microsoft YaHei"/>
              </a:rPr>
              <a:t>PHIE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394000" y="2138400"/>
            <a:ext cx="683999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394000" y="2584800"/>
            <a:ext cx="683999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394000" y="3031200"/>
            <a:ext cx="683999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394000" y="3477600"/>
            <a:ext cx="683999" cy="0"/>
          </a:xfrm>
          <a:prstGeom prst="line">
            <a:avLst/>
          </a:prstGeom>
          <a:ln w="1016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30000" y="1782000"/>
            <a:ext cx="108000" cy="72000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538000" y="1800000"/>
            <a:ext cx="108000" cy="54000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46000" y="1800000"/>
            <a:ext cx="90000" cy="125999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36000" y="1872000"/>
            <a:ext cx="126000" cy="53999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62000" y="1872000"/>
            <a:ext cx="108000" cy="162000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970000" y="1962000"/>
            <a:ext cx="126000" cy="72000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96000" y="1962000"/>
            <a:ext cx="90000" cy="162000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186000" y="2070000"/>
            <a:ext cx="90000" cy="54000"/>
          </a:xfrm>
          <a:prstGeom prst="line">
            <a:avLst/>
          </a:prstGeom>
          <a:ln w="2794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311200" y="2538000"/>
            <a:ext cx="125999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717E"/>
                </a:solidFill>
                <a:latin typeface="Microsoft YaHei"/>
              </a:rPr>
              <a:t>深
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8000" y="4194000"/>
            <a:ext cx="2808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17E"/>
                </a:solidFill>
                <a:latin typeface="Microsoft YaHei"/>
              </a:rPr>
              <a:t>通过滑动窗口构造长度为 10 的时序样本。
不同任务可选择不同参数组作为输入特征。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60000" y="1116000"/>
            <a:ext cx="3960000" cy="1512000"/>
          </a:xfrm>
          <a:prstGeom prst="roundRect">
            <a:avLst/>
          </a:prstGeom>
          <a:solidFill>
            <a:srgbClr val="DEEAF8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A5C"/>
                </a:solidFill>
                <a:latin typeface="Microsoft YaHei"/>
              </a:rPr>
              <a:t>BiLSTM 时序特征提取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1层双向LSTM  |  hidden_size = 16  |  输出维度 = 32</a:t>
            </a:r>
          </a:p>
        </p:txBody>
      </p:sp>
      <p:sp>
        <p:nvSpPr>
          <p:cNvPr id="60" name="Oval 59"/>
          <p:cNvSpPr/>
          <p:nvPr/>
        </p:nvSpPr>
        <p:spPr>
          <a:xfrm>
            <a:off x="4464000" y="1745999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464000" y="2142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004000" y="1745999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004000" y="2142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544000" y="1745999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544000" y="2142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083999" y="1745999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083999" y="2142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23999" y="1745999"/>
            <a:ext cx="259200" cy="259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623999" y="2142000"/>
            <a:ext cx="259200" cy="259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4723200" y="1872000"/>
            <a:ext cx="280800" cy="0"/>
          </a:xfrm>
          <a:prstGeom prst="line">
            <a:avLst/>
          </a:prstGeom>
          <a:ln w="2032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723200" y="2268000"/>
            <a:ext cx="280800" cy="0"/>
          </a:xfrm>
          <a:prstGeom prst="line">
            <a:avLst/>
          </a:prstGeom>
          <a:ln w="2032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263200" y="1872000"/>
            <a:ext cx="280800" cy="0"/>
          </a:xfrm>
          <a:prstGeom prst="line">
            <a:avLst/>
          </a:prstGeom>
          <a:ln w="2032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5263200" y="2268000"/>
            <a:ext cx="280800" cy="0"/>
          </a:xfrm>
          <a:prstGeom prst="line">
            <a:avLst/>
          </a:prstGeom>
          <a:ln w="2032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803200" y="1872000"/>
            <a:ext cx="280799" cy="0"/>
          </a:xfrm>
          <a:prstGeom prst="line">
            <a:avLst/>
          </a:prstGeom>
          <a:ln w="2032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5803200" y="2268000"/>
            <a:ext cx="280799" cy="0"/>
          </a:xfrm>
          <a:prstGeom prst="line">
            <a:avLst/>
          </a:prstGeom>
          <a:ln w="2032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343199" y="1872000"/>
            <a:ext cx="280800" cy="0"/>
          </a:xfrm>
          <a:prstGeom prst="line">
            <a:avLst/>
          </a:prstGeom>
          <a:ln w="2032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6343199" y="2268000"/>
            <a:ext cx="280800" cy="0"/>
          </a:xfrm>
          <a:prstGeom prst="line">
            <a:avLst/>
          </a:prstGeom>
          <a:ln w="2032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248000" y="1440000"/>
            <a:ext cx="3311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B3440"/>
                </a:solidFill>
                <a:latin typeface="Microsoft YaHei"/>
              </a:rPr>
              <a:t>输出末端时刻上下文表示  h_target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960000" y="2951999"/>
            <a:ext cx="3960000" cy="2088000"/>
          </a:xfrm>
          <a:prstGeom prst="roundRect">
            <a:avLst/>
          </a:prstGeom>
          <a:solidFill>
            <a:srgbClr val="E4EFE0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3A5C"/>
                </a:solidFill>
                <a:latin typeface="Microsoft YaHei"/>
              </a:rPr>
              <a:t>特征注意力机制</a:t>
            </a:r>
          </a:p>
          <a:p>
            <a:pPr algn="ctr"/>
            <a:r>
              <a:rPr sz="1100" b="0">
                <a:solidFill>
                  <a:srgbClr val="66717E"/>
                </a:solidFill>
                <a:latin typeface="Microsoft YaHei"/>
              </a:rPr>
              <a:t>根据 h_target 与 x_target 生成特征权重 α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54000" y="3671999"/>
            <a:ext cx="1007999" cy="827999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3A5C"/>
                </a:solidFill>
                <a:latin typeface="Microsoft YaHei"/>
              </a:rPr>
              <a:t>加权输出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weighted_x = α ⊙ x_target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84000" y="3780000"/>
            <a:ext cx="756000" cy="540000"/>
          </a:xfrm>
          <a:prstGeom prst="roundRect">
            <a:avLst/>
          </a:prstGeom>
          <a:solidFill>
            <a:srgbClr val="F7E7D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3A5C"/>
                </a:solidFill>
                <a:latin typeface="Microsoft YaHei"/>
              </a:rPr>
              <a:t>当前特征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x_target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840000" y="3384000"/>
            <a:ext cx="756000" cy="540000"/>
          </a:xfrm>
          <a:prstGeom prst="roundRect">
            <a:avLst/>
          </a:prstGeom>
          <a:solidFill>
            <a:srgbClr val="D9EEF3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3A5C"/>
                </a:solidFill>
                <a:latin typeface="Microsoft YaHei"/>
              </a:rPr>
              <a:t>上下文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h_target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768000" y="4320000"/>
            <a:ext cx="756000" cy="540000"/>
          </a:xfrm>
          <a:prstGeom prst="roundRect">
            <a:avLst/>
          </a:prstGeom>
          <a:solidFill>
            <a:srgbClr val="E9E3F1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3A5C"/>
                </a:solidFill>
                <a:latin typeface="Microsoft YaHei"/>
              </a:rPr>
              <a:t>特征权重</a:t>
            </a:r>
          </a:p>
          <a:p>
            <a:pPr algn="ctr"/>
            <a:r>
              <a:rPr sz="1100" b="0">
                <a:solidFill>
                  <a:srgbClr val="66717E"/>
                </a:solidFill>
                <a:latin typeface="Microsoft YaHei"/>
              </a:rPr>
              <a:t>α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040000" y="4050000"/>
            <a:ext cx="414000" cy="0"/>
          </a:xfrm>
          <a:prstGeom prst="line">
            <a:avLst/>
          </a:prstGeom>
          <a:ln w="22860">
            <a:solidFill>
              <a:srgbClr val="D683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6462000" y="3654000"/>
            <a:ext cx="378000" cy="252000"/>
          </a:xfrm>
          <a:prstGeom prst="line">
            <a:avLst/>
          </a:prstGeom>
          <a:ln w="22860">
            <a:solidFill>
              <a:srgbClr val="67B1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6462000" y="4338000"/>
            <a:ext cx="306000" cy="252000"/>
          </a:xfrm>
          <a:prstGeom prst="line">
            <a:avLst/>
          </a:prstGeom>
          <a:ln w="22860">
            <a:solidFill>
              <a:srgbClr val="798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176000" y="4698000"/>
            <a:ext cx="3528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6717E"/>
                </a:solidFill>
                <a:latin typeface="Microsoft YaHei"/>
              </a:rPr>
              <a:t>注意力层对输入特征进行动态加权，突出关键参数，
实现多参数耦合与可解释性输出。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640000" y="1440000"/>
            <a:ext cx="2988000" cy="648000"/>
          </a:xfrm>
          <a:prstGeom prst="roundRect">
            <a:avLst/>
          </a:prstGeom>
          <a:solidFill>
            <a:srgbClr val="F7E7D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03A5C"/>
                </a:solidFill>
                <a:latin typeface="Microsoft YaHei"/>
              </a:rPr>
              <a:t>有效储层识别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输出储层分类与连续指示曲线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40000" y="2376000"/>
            <a:ext cx="2988000" cy="648000"/>
          </a:xfrm>
          <a:prstGeom prst="roundRect">
            <a:avLst/>
          </a:prstGeom>
          <a:solidFill>
            <a:srgbClr val="E4EFE0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03A5C"/>
                </a:solidFill>
                <a:latin typeface="Microsoft YaHei"/>
              </a:rPr>
              <a:t>气液识别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输出气层 / 含液层分类结果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40000" y="3311999"/>
            <a:ext cx="2988000" cy="648000"/>
          </a:xfrm>
          <a:prstGeom prst="roundRect">
            <a:avLst/>
          </a:prstGeom>
          <a:solidFill>
            <a:srgbClr val="E9E3F1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03A5C"/>
                </a:solidFill>
                <a:latin typeface="Microsoft YaHei"/>
              </a:rPr>
              <a:t>注意力解释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输出 FA_alpha_* 动态权重曲线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40000" y="4248000"/>
            <a:ext cx="2988000" cy="648000"/>
          </a:xfrm>
          <a:prstGeom prst="roundRect">
            <a:avLst/>
          </a:prstGeom>
          <a:solidFill>
            <a:srgbClr val="DEEAF8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03A5C"/>
                </a:solidFill>
                <a:latin typeface="Microsoft YaHei"/>
              </a:rPr>
              <a:t>综合输出</a:t>
            </a:r>
          </a:p>
          <a:p>
            <a:pPr algn="ctr"/>
            <a:r>
              <a:rPr sz="1000" b="0">
                <a:solidFill>
                  <a:srgbClr val="66717E"/>
                </a:solidFill>
                <a:latin typeface="Microsoft YaHei"/>
              </a:rPr>
              <a:t>分类结果 + 连续曲线 + 权重解释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258000" y="4428000"/>
            <a:ext cx="702000" cy="0"/>
          </a:xfrm>
          <a:prstGeom prst="line">
            <a:avLst/>
          </a:prstGeom>
          <a:ln w="2667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902000" y="1872000"/>
            <a:ext cx="738000" cy="0"/>
          </a:xfrm>
          <a:prstGeom prst="line">
            <a:avLst/>
          </a:prstGeom>
          <a:ln w="2667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902000" y="3996000"/>
            <a:ext cx="738000" cy="0"/>
          </a:xfrm>
          <a:prstGeom prst="line">
            <a:avLst/>
          </a:prstGeom>
          <a:ln w="2667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11682000" y="1584000"/>
            <a:ext cx="288000" cy="576000"/>
          </a:xfrm>
          <a:prstGeom prst="rect">
            <a:avLst/>
          </a:prstGeom>
          <a:solidFill>
            <a:srgbClr val="B1E0EB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700000" y="1807200"/>
            <a:ext cx="251999" cy="14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682000" y="2160000"/>
            <a:ext cx="288000" cy="612000"/>
          </a:xfrm>
          <a:prstGeom prst="rect">
            <a:avLst/>
          </a:prstGeom>
          <a:solidFill>
            <a:srgbClr val="F6AB98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700000" y="2401200"/>
            <a:ext cx="251999" cy="14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储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682000" y="2772000"/>
            <a:ext cx="288000" cy="756000"/>
          </a:xfrm>
          <a:prstGeom prst="rect">
            <a:avLst/>
          </a:prstGeom>
          <a:solidFill>
            <a:srgbClr val="95B1DC"/>
          </a:solidFill>
          <a:ln w="1016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700000" y="3085200"/>
            <a:ext cx="251999" cy="14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03A5C"/>
                </a:solidFill>
                <a:latin typeface="Microsoft YaHei"/>
              </a:rPr>
              <a:t>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0000" y="5958000"/>
            <a:ext cx="10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17E"/>
                </a:solidFill>
                <a:latin typeface="Microsoft YaHei"/>
              </a:rPr>
              <a:t>说明：BiLSTM 负责建模井深方向上的时序依赖关系，特征注意力层负责计算多参数动态权重，并通过加权与融合实现多参数耦合表达。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