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25999"/>
            <a:ext cx="108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03A5C"/>
                </a:solidFill>
                <a:latin typeface="Microsoft YaHei"/>
              </a:rPr>
              <a:t>基于 BiLSTM 与特征注意力机制的测井智能识别框架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720000"/>
            <a:ext cx="3168000" cy="4968000"/>
          </a:xfrm>
          <a:prstGeom prst="roundRect">
            <a:avLst/>
          </a:prstGeom>
          <a:solidFill>
            <a:srgbClr val="ECF2F9"/>
          </a:solidFill>
          <a:ln w="1397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3168000" cy="306000"/>
          </a:xfrm>
          <a:prstGeom prst="rect">
            <a:avLst/>
          </a:prstGeom>
          <a:solidFill>
            <a:srgbClr val="D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748800"/>
            <a:ext cx="3168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Microsoft YaHei"/>
              </a:rPr>
              <a:t>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1999" y="720000"/>
            <a:ext cx="4536000" cy="4968000"/>
          </a:xfrm>
          <a:prstGeom prst="roundRect">
            <a:avLst/>
          </a:prstGeom>
          <a:solidFill>
            <a:srgbClr val="ECF2F9"/>
          </a:solidFill>
          <a:ln w="1397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1999" y="720000"/>
            <a:ext cx="4536000" cy="306000"/>
          </a:xfrm>
          <a:prstGeom prst="rect">
            <a:avLst/>
          </a:prstGeom>
          <a:solidFill>
            <a:srgbClr val="D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1999" y="748800"/>
            <a:ext cx="4536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Microsoft YaHei"/>
              </a:rPr>
              <a:t>核心网络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4000" y="720000"/>
            <a:ext cx="3456000" cy="4968000"/>
          </a:xfrm>
          <a:prstGeom prst="roundRect">
            <a:avLst/>
          </a:prstGeom>
          <a:solidFill>
            <a:srgbClr val="ECF2F9"/>
          </a:solidFill>
          <a:ln w="1397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24000" y="720000"/>
            <a:ext cx="3456000" cy="306000"/>
          </a:xfrm>
          <a:prstGeom prst="rect">
            <a:avLst/>
          </a:prstGeom>
          <a:solidFill>
            <a:srgbClr val="D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4000" y="748800"/>
            <a:ext cx="3456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Microsoft YaHei"/>
              </a:rPr>
              <a:t>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80000"/>
            <a:ext cx="2880000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Microsoft YaHei"/>
              </a:rPr>
              <a:t>多参数测井输入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440000"/>
            <a:ext cx="594000" cy="2520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1494000"/>
            <a:ext cx="594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B3440"/>
                </a:solidFill>
                <a:latin typeface="Microsoft YaHei"/>
              </a:rPr>
              <a:t>MLR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199" y="2106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199" y="2538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199" y="2970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5199" y="3401999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90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71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6799" y="1764000"/>
            <a:ext cx="86401" cy="648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3200" y="1782000"/>
            <a:ext cx="79200" cy="468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2400" y="1782000"/>
            <a:ext cx="86400" cy="1188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8800" y="1854000"/>
            <a:ext cx="79199" cy="468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7999" y="1854000"/>
            <a:ext cx="90000" cy="133199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17999" y="1925999"/>
            <a:ext cx="82801" cy="612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0800" y="1925999"/>
            <a:ext cx="86400" cy="133201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87200" y="2001600"/>
            <a:ext cx="82800" cy="576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7600" y="2538000"/>
            <a:ext cx="1008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8000" y="1440000"/>
            <a:ext cx="594000" cy="2520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8000" y="1494000"/>
            <a:ext cx="594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B3440"/>
                </a:solidFill>
                <a:latin typeface="Microsoft YaHei"/>
              </a:rPr>
              <a:t>AMPST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41200" y="2106000"/>
            <a:ext cx="507599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41200" y="2538000"/>
            <a:ext cx="507599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1200" y="2970000"/>
            <a:ext cx="507599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41200" y="3401999"/>
            <a:ext cx="507599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969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950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931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2800" y="1764000"/>
            <a:ext cx="86400" cy="648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49200" y="1782000"/>
            <a:ext cx="79200" cy="468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28400" y="1782000"/>
            <a:ext cx="86400" cy="1188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14800" y="1854000"/>
            <a:ext cx="79200" cy="468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94000" y="1854000"/>
            <a:ext cx="90000" cy="133199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84000" y="1925999"/>
            <a:ext cx="82800" cy="612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666800" y="1925999"/>
            <a:ext cx="86400" cy="133201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753200" y="2001600"/>
            <a:ext cx="82799" cy="576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83600" y="2538000"/>
            <a:ext cx="1008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64000" y="1440000"/>
            <a:ext cx="594000" cy="2520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64000" y="1494000"/>
            <a:ext cx="594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B3440"/>
                </a:solidFill>
                <a:latin typeface="Microsoft YaHei"/>
              </a:rPr>
              <a:t>PHIE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807200" y="2106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807200" y="2538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807200" y="2970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7200" y="3401999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629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610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1591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28800" y="1764000"/>
            <a:ext cx="86400" cy="648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15200" y="1782000"/>
            <a:ext cx="79200" cy="468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94400" y="1782000"/>
            <a:ext cx="86400" cy="1188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080800" y="1854000"/>
            <a:ext cx="79200" cy="468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160000" y="1854000"/>
            <a:ext cx="90000" cy="133199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50000" y="1925999"/>
            <a:ext cx="82800" cy="612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332800" y="1925999"/>
            <a:ext cx="86400" cy="133201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419200" y="2001600"/>
            <a:ext cx="82800" cy="576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49600" y="2538000"/>
            <a:ext cx="1008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30000" y="1440000"/>
            <a:ext cx="594000" cy="2520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30000" y="1494000"/>
            <a:ext cx="594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B3440"/>
                </a:solidFill>
                <a:latin typeface="Microsoft YaHei"/>
              </a:rPr>
              <a:t>RICX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473200" y="2106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473200" y="2538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473200" y="2970000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473200" y="3401999"/>
            <a:ext cx="507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6289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7270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825100" y="1648800"/>
            <a:ext cx="0" cy="2239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494800" y="1764000"/>
            <a:ext cx="86400" cy="64800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581200" y="1782000"/>
            <a:ext cx="79200" cy="46800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660400" y="1782000"/>
            <a:ext cx="86400" cy="118800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746800" y="1854000"/>
            <a:ext cx="79200" cy="46800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826000" y="1854000"/>
            <a:ext cx="90000" cy="133199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916000" y="1925999"/>
            <a:ext cx="82800" cy="61200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998800" y="1925999"/>
            <a:ext cx="86400" cy="133201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085200" y="2001600"/>
            <a:ext cx="82800" cy="57600"/>
          </a:xfrm>
          <a:prstGeom prst="line">
            <a:avLst/>
          </a:prstGeom>
          <a:ln w="25400">
            <a:solidFill>
              <a:srgbClr val="A68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415600" y="2538000"/>
            <a:ext cx="1008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2000" y="4086000"/>
            <a:ext cx="2880000" cy="70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6717E"/>
                </a:solidFill>
                <a:latin typeface="Microsoft YaHei"/>
              </a:rPr>
              <a:t>输入可以是 MLR、AMPST、PHIE 等储层参数，
也可以是 Sigma、RICX、RIN13、RATO13 等流体参数。
通过滑动窗口构造长度为 10 的时序样本。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60000" y="1098000"/>
            <a:ext cx="3960000" cy="1565999"/>
          </a:xfrm>
          <a:prstGeom prst="roundRect">
            <a:avLst/>
          </a:prstGeom>
          <a:solidFill>
            <a:srgbClr val="DEEAF8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68000" y="1206000"/>
            <a:ext cx="3744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Microsoft YaHei"/>
              </a:rPr>
              <a:t>BiLSTM 时序特征提取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76000" y="1494000"/>
            <a:ext cx="3528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B3440"/>
                </a:solidFill>
                <a:latin typeface="Microsoft YaHei"/>
              </a:rPr>
              <a:t>输出末端时刻上下文表示  h_target</a:t>
            </a:r>
          </a:p>
        </p:txBody>
      </p:sp>
      <p:sp>
        <p:nvSpPr>
          <p:cNvPr id="89" name="Oval 88"/>
          <p:cNvSpPr/>
          <p:nvPr/>
        </p:nvSpPr>
        <p:spPr>
          <a:xfrm>
            <a:off x="4374000" y="1782000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74000" y="2196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914000" y="1782000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914000" y="2196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454000" y="1782000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454000" y="2196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993999" y="1782000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993999" y="2196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533999" y="1782000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533999" y="2196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4633200" y="1908000"/>
            <a:ext cx="280800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4633200" y="2322000"/>
            <a:ext cx="280800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173200" y="1908000"/>
            <a:ext cx="280800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5173200" y="2322000"/>
            <a:ext cx="280800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713200" y="1908000"/>
            <a:ext cx="280799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5713200" y="2322000"/>
            <a:ext cx="280799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253199" y="1908000"/>
            <a:ext cx="280800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6253199" y="2322000"/>
            <a:ext cx="280800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248000" y="2142000"/>
            <a:ext cx="3384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6717E"/>
                </a:solidFill>
                <a:latin typeface="Microsoft YaHei"/>
              </a:rPr>
              <a:t>1层双向LSTM  |  hidden_size = 16  |  输出维度 = 32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960000" y="2988000"/>
            <a:ext cx="3960000" cy="2052000"/>
          </a:xfrm>
          <a:prstGeom prst="roundRect">
            <a:avLst/>
          </a:prstGeom>
          <a:solidFill>
            <a:srgbClr val="E4EFE0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050000" y="3096000"/>
            <a:ext cx="3780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Microsoft YaHei"/>
              </a:rPr>
              <a:t>特征注意力耦合机制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320000" y="3798000"/>
            <a:ext cx="774000" cy="594000"/>
          </a:xfrm>
          <a:prstGeom prst="roundRect">
            <a:avLst/>
          </a:prstGeom>
          <a:solidFill>
            <a:srgbClr val="F7E7D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203A5C"/>
                </a:solidFill>
                <a:latin typeface="Microsoft YaHei"/>
              </a:rPr>
              <a:t>当前特征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x_target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400000" y="3690000"/>
            <a:ext cx="954000" cy="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203A5C"/>
                </a:solidFill>
                <a:latin typeface="Microsoft YaHei"/>
              </a:rPr>
              <a:t>加权输出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weighted_x
= α ⊙
x_target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22000" y="3366000"/>
            <a:ext cx="702000" cy="558000"/>
          </a:xfrm>
          <a:prstGeom prst="roundRect">
            <a:avLst/>
          </a:prstGeom>
          <a:solidFill>
            <a:srgbClr val="D9EEF3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50" b="1">
                <a:solidFill>
                  <a:srgbClr val="203A5C"/>
                </a:solidFill>
                <a:latin typeface="Microsoft YaHei"/>
              </a:rPr>
              <a:t>上下文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h_target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822000" y="4356000"/>
            <a:ext cx="702000" cy="558000"/>
          </a:xfrm>
          <a:prstGeom prst="roundRect">
            <a:avLst/>
          </a:prstGeom>
          <a:solidFill>
            <a:srgbClr val="E9E3F1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50" b="1">
                <a:solidFill>
                  <a:srgbClr val="203A5C"/>
                </a:solidFill>
                <a:latin typeface="Microsoft YaHei"/>
              </a:rPr>
              <a:t>特征权重</a:t>
            </a:r>
          </a:p>
          <a:p>
            <a:pPr algn="ctr"/>
            <a:r>
              <a:rPr sz="1200" b="0">
                <a:solidFill>
                  <a:srgbClr val="66717E"/>
                </a:solidFill>
                <a:latin typeface="Microsoft YaHei"/>
              </a:rPr>
              <a:t>α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094000" y="4086000"/>
            <a:ext cx="306000" cy="0"/>
          </a:xfrm>
          <a:prstGeom prst="line">
            <a:avLst/>
          </a:prstGeom>
          <a:ln w="22860">
            <a:solidFill>
              <a:srgbClr val="D683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6353999" y="3636000"/>
            <a:ext cx="468001" cy="288000"/>
          </a:xfrm>
          <a:prstGeom prst="line">
            <a:avLst/>
          </a:prstGeom>
          <a:ln w="22860">
            <a:solidFill>
              <a:srgbClr val="67B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6353999" y="4302000"/>
            <a:ext cx="468001" cy="324000"/>
          </a:xfrm>
          <a:prstGeom prst="line">
            <a:avLst/>
          </a:prstGeom>
          <a:ln w="22860">
            <a:solidFill>
              <a:srgbClr val="798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4194000" y="4770000"/>
            <a:ext cx="3491999" cy="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66717E"/>
                </a:solidFill>
                <a:latin typeface="Microsoft YaHei"/>
              </a:rPr>
              <a:t>注意力机制由 h_target 与 x_target 共同生成特征权重 α，
并通过加权形成 weighted_x，实现多参数耦合表达。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658000" y="1242000"/>
            <a:ext cx="2880000" cy="846000"/>
          </a:xfrm>
          <a:prstGeom prst="roundRect">
            <a:avLst/>
          </a:prstGeom>
          <a:solidFill>
            <a:srgbClr val="F7E7D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730000" y="1296000"/>
            <a:ext cx="273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03A5C"/>
                </a:solidFill>
                <a:latin typeface="Microsoft YaHei"/>
              </a:rPr>
              <a:t>步骤 1：时序判别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38000" y="1522800"/>
            <a:ext cx="2520000" cy="342000"/>
          </a:xfrm>
          <a:prstGeom prst="rect">
            <a:avLst/>
          </a:prstGeom>
          <a:solidFill>
            <a:srgbClr val="FAFCFF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946000" y="1580400"/>
            <a:ext cx="1872000" cy="64800"/>
          </a:xfrm>
          <a:prstGeom prst="rect">
            <a:avLst/>
          </a:prstGeom>
          <a:solidFill>
            <a:srgbClr val="95B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946000" y="1652400"/>
            <a:ext cx="1872000" cy="64800"/>
          </a:xfrm>
          <a:prstGeom prst="rect">
            <a:avLst/>
          </a:prstGeom>
          <a:solidFill>
            <a:srgbClr val="F6A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946000" y="1724400"/>
            <a:ext cx="1872000" cy="64800"/>
          </a:xfrm>
          <a:prstGeom prst="rect">
            <a:avLst/>
          </a:prstGeom>
          <a:solidFill>
            <a:srgbClr val="B1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9630000" y="1584000"/>
            <a:ext cx="324000" cy="165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40800" y="1623600"/>
            <a:ext cx="302400" cy="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03A5C"/>
                </a:solidFill>
                <a:latin typeface="Microsoft YaHei"/>
              </a:rPr>
              <a:t>目标层段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80000" y="1576800"/>
            <a:ext cx="306000" cy="17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B3440"/>
                </a:solidFill>
                <a:latin typeface="Microsoft YaHei"/>
              </a:rPr>
              <a:t>h_
target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66000" y="1882800"/>
            <a:ext cx="2664000" cy="13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66717E"/>
                </a:solidFill>
                <a:latin typeface="Microsoft YaHei"/>
              </a:rPr>
              <a:t>BiLSTM 提取上下文时序特征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658000" y="2358000"/>
            <a:ext cx="2880000" cy="846000"/>
          </a:xfrm>
          <a:prstGeom prst="roundRect">
            <a:avLst/>
          </a:prstGeom>
          <a:solidFill>
            <a:srgbClr val="E4EFE0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730000" y="2412000"/>
            <a:ext cx="273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03A5C"/>
                </a:solidFill>
                <a:latin typeface="Microsoft YaHei"/>
              </a:rPr>
              <a:t>步骤 2：特征加权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838000" y="2638800"/>
            <a:ext cx="2520000" cy="342000"/>
          </a:xfrm>
          <a:prstGeom prst="rect">
            <a:avLst/>
          </a:prstGeom>
          <a:solidFill>
            <a:srgbClr val="FAFCFF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946000" y="2703600"/>
            <a:ext cx="2304000" cy="86400"/>
          </a:xfrm>
          <a:prstGeom prst="rect">
            <a:avLst/>
          </a:prstGeom>
          <a:solidFill>
            <a:srgbClr val="B1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946000" y="2790000"/>
            <a:ext cx="2304000" cy="86400"/>
          </a:xfrm>
          <a:prstGeom prst="rect">
            <a:avLst/>
          </a:prstGeom>
          <a:solidFill>
            <a:srgbClr val="F6A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84000" y="2674800"/>
            <a:ext cx="259200" cy="259200"/>
          </a:xfrm>
          <a:prstGeom prst="ellipse">
            <a:avLst/>
          </a:prstGeom>
          <a:solidFill>
            <a:srgbClr val="F5F7FB"/>
          </a:solidFill>
          <a:ln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716400" y="2746800"/>
            <a:ext cx="194400" cy="6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α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98000" y="2710800"/>
            <a:ext cx="324000" cy="6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03A5C"/>
                </a:solidFill>
                <a:latin typeface="Microsoft YaHei"/>
              </a:rPr>
              <a:t>高权重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098000" y="2800800"/>
            <a:ext cx="324000" cy="6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03A5C"/>
                </a:solidFill>
                <a:latin typeface="Microsoft YaHei"/>
              </a:rPr>
              <a:t>低权重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66000" y="2998800"/>
            <a:ext cx="2664000" cy="13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66717E"/>
                </a:solidFill>
                <a:latin typeface="Microsoft YaHei"/>
              </a:rPr>
              <a:t>注意力机制计算 α 并生成 weighted_x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58000" y="3474000"/>
            <a:ext cx="2880000" cy="846000"/>
          </a:xfrm>
          <a:prstGeom prst="roundRect">
            <a:avLst/>
          </a:prstGeom>
          <a:solidFill>
            <a:srgbClr val="E9E3F1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30000" y="3528000"/>
            <a:ext cx="273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03A5C"/>
                </a:solidFill>
                <a:latin typeface="Microsoft YaHei"/>
              </a:rPr>
              <a:t>步骤 3：融合输出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838000" y="3754800"/>
            <a:ext cx="2520000" cy="342000"/>
          </a:xfrm>
          <a:prstGeom prst="rect">
            <a:avLst/>
          </a:prstGeom>
          <a:solidFill>
            <a:srgbClr val="FAFCFF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36000" y="3826799"/>
            <a:ext cx="324000" cy="162000"/>
          </a:xfrm>
          <a:prstGeom prst="rect">
            <a:avLst/>
          </a:prstGeom>
          <a:solidFill>
            <a:srgbClr val="B1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36000" y="3855599"/>
            <a:ext cx="324000" cy="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203A5C"/>
                </a:solidFill>
                <a:latin typeface="Microsoft YaHei"/>
              </a:rPr>
              <a:t>分类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540000" y="3826799"/>
            <a:ext cx="324000" cy="162000"/>
          </a:xfrm>
          <a:prstGeom prst="rect">
            <a:avLst/>
          </a:prstGeom>
          <a:solidFill>
            <a:srgbClr val="F6A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540000" y="3855599"/>
            <a:ext cx="324000" cy="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203A5C"/>
                </a:solidFill>
                <a:latin typeface="Microsoft YaHei"/>
              </a:rPr>
              <a:t>曲线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044000" y="3826799"/>
            <a:ext cx="324000" cy="162000"/>
          </a:xfrm>
          <a:prstGeom prst="rect">
            <a:avLst/>
          </a:prstGeom>
          <a:solidFill>
            <a:srgbClr val="95B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044000" y="3855599"/>
            <a:ext cx="324000" cy="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203A5C"/>
                </a:solidFill>
                <a:latin typeface="Microsoft YaHei"/>
              </a:rPr>
              <a:t>权重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66000" y="4114800"/>
            <a:ext cx="2664000" cy="13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66717E"/>
                </a:solidFill>
                <a:latin typeface="Microsoft YaHei"/>
              </a:rPr>
              <a:t>输出分类结果、连续曲线与权重解释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0098000" y="2088000"/>
            <a:ext cx="0" cy="270000"/>
          </a:xfrm>
          <a:prstGeom prst="line">
            <a:avLst/>
          </a:prstGeom>
          <a:ln w="2159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098000" y="3204000"/>
            <a:ext cx="0" cy="270000"/>
          </a:xfrm>
          <a:prstGeom prst="line">
            <a:avLst/>
          </a:prstGeom>
          <a:ln w="2159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8748000" y="4500000"/>
            <a:ext cx="27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66717E"/>
                </a:solidFill>
                <a:latin typeface="Microsoft YaHei"/>
              </a:rPr>
              <a:t>典型输出包括：有效储层识别、气液识别、FA_alpha_* 权重曲线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3041999" y="4464000"/>
            <a:ext cx="918001" cy="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7920000" y="1674000"/>
            <a:ext cx="738000" cy="414000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920000" y="2772000"/>
            <a:ext cx="738000" cy="1259999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11646000" y="1422000"/>
            <a:ext cx="306000" cy="774000"/>
          </a:xfrm>
          <a:prstGeom prst="rect">
            <a:avLst/>
          </a:prstGeom>
          <a:solidFill>
            <a:srgbClr val="B1E0EB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664000" y="1744200"/>
            <a:ext cx="270000" cy="12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646000" y="2196000"/>
            <a:ext cx="306000" cy="756000"/>
          </a:xfrm>
          <a:prstGeom prst="rect">
            <a:avLst/>
          </a:prstGeom>
          <a:solidFill>
            <a:srgbClr val="F6AB98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664000" y="2509200"/>
            <a:ext cx="270000" cy="12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储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6000" y="2951999"/>
            <a:ext cx="306000" cy="882000"/>
          </a:xfrm>
          <a:prstGeom prst="rect">
            <a:avLst/>
          </a:prstGeom>
          <a:solidFill>
            <a:srgbClr val="95B1DC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64000" y="3328199"/>
            <a:ext cx="270000" cy="12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502000" y="3941999"/>
            <a:ext cx="666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66717E"/>
                </a:solidFill>
                <a:latin typeface="Microsoft YaHei"/>
              </a:rPr>
              <a:t>结果柱状
示意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20000" y="5958000"/>
            <a:ext cx="10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17E"/>
                </a:solidFill>
                <a:latin typeface="Microsoft YaHei"/>
              </a:rPr>
              <a:t>说明：BiLSTM 负责建模井深方向上的时序依赖关系，特征注意力层负责计算多参数动态权重，并通过加权与融合实现多参数耦合表达。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