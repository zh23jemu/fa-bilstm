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203A5C"/>
                </a:solidFill>
                <a:latin typeface="微软雅黑"/>
              </a:rPr>
              <a:t>FA-BiLSTM 测井智能识别架构图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900000"/>
            <a:ext cx="2700000" cy="55800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900000"/>
            <a:ext cx="270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微软雅黑"/>
              </a:rPr>
              <a:t>1. 数据输入 (Data Input)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0" y="900000"/>
            <a:ext cx="5580000" cy="55800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0000" y="900000"/>
            <a:ext cx="558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微软雅黑"/>
              </a:rPr>
              <a:t>2. 核心网络 (FA-BiLSTM Engine)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0" y="900000"/>
            <a:ext cx="2808000" cy="5580000"/>
          </a:xfrm>
          <a:prstGeom prst="roundRect">
            <a:avLst/>
          </a:prstGeom>
          <a:solidFill>
            <a:srgbClr val="ECF2F9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0" y="900000"/>
            <a:ext cx="280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03A5C"/>
                </a:solidFill>
                <a:latin typeface="微软雅黑"/>
              </a:rPr>
              <a:t>3. 预测输出 (Prediction Output)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0000" y="3600000"/>
            <a:ext cx="180000" cy="0"/>
          </a:xfrm>
          <a:prstGeom prst="line">
            <a:avLst/>
          </a:prstGeom>
          <a:ln w="381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0000" y="3600000"/>
            <a:ext cx="180000" cy="0"/>
          </a:xfrm>
          <a:prstGeom prst="line">
            <a:avLst/>
          </a:prstGeom>
          <a:ln w="381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0000" y="1440000"/>
            <a:ext cx="23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多维度连续测井参数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198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Sigma (俘获截面)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" y="252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C/O (碳氧比)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060000"/>
            <a:ext cx="1800000" cy="3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Ratio (非弹性比)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780000"/>
            <a:ext cx="2340000" cy="2160000"/>
          </a:xfrm>
          <a:prstGeom prst="roundRect">
            <a:avLst/>
          </a:prstGeom>
          <a:solidFill>
            <a:srgbClr val="E6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3888000"/>
            <a:ext cx="234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基于滑动窗口的时序构造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320000"/>
            <a:ext cx="2124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/>
              </a:rPr>
              <a:t>Window Size (L) = 10
通过沿井深滑动，将单点转化为包含上下文的时序片段：
(Batch, L, Features)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000" y="1440000"/>
            <a:ext cx="5220000" cy="20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0000" y="1440000"/>
            <a:ext cx="52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时序特征提取 (BiLSTM Layer)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248000" y="2790000"/>
            <a:ext cx="0" cy="5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356000" y="2664000"/>
            <a:ext cx="216000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356000" y="2430000"/>
            <a:ext cx="216000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3924000" y="2304000"/>
            <a:ext cx="216000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924000" y="2088000"/>
            <a:ext cx="216000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248000" y="2088000"/>
            <a:ext cx="0" cy="9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48000" y="1800000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940000" y="2790000"/>
            <a:ext cx="0" cy="5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048000" y="2664000"/>
            <a:ext cx="215999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048000" y="2430000"/>
            <a:ext cx="215999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5616000" y="2304000"/>
            <a:ext cx="216000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616000" y="2088000"/>
            <a:ext cx="216000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940000" y="2088000"/>
            <a:ext cx="0" cy="9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40000" y="1800000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632000" y="2790000"/>
            <a:ext cx="0" cy="5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40000" y="2664000"/>
            <a:ext cx="215999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7740000" y="2430000"/>
            <a:ext cx="215999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308000" y="2304000"/>
            <a:ext cx="215999" cy="23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308000" y="2088000"/>
            <a:ext cx="215999" cy="216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632000" y="2088000"/>
            <a:ext cx="0" cy="9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32000" y="1800000"/>
            <a:ext cx="0" cy="7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572000" y="2664000"/>
            <a:ext cx="1044000" cy="0"/>
          </a:xfrm>
          <a:prstGeom prst="line">
            <a:avLst/>
          </a:prstGeom>
          <a:ln w="2540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63999" y="2664000"/>
            <a:ext cx="1044001" cy="0"/>
          </a:xfrm>
          <a:prstGeom prst="line">
            <a:avLst/>
          </a:prstGeom>
          <a:ln w="25400">
            <a:solidFill>
              <a:srgbClr val="91C7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263999" y="2304000"/>
            <a:ext cx="1044001" cy="0"/>
          </a:xfrm>
          <a:prstGeom prst="line">
            <a:avLst/>
          </a:prstGeom>
          <a:ln w="25400">
            <a:solidFill>
              <a:srgbClr val="E09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572000" y="2304000"/>
            <a:ext cx="1044000" cy="0"/>
          </a:xfrm>
          <a:prstGeom prst="line">
            <a:avLst/>
          </a:prstGeom>
          <a:ln w="25400">
            <a:solidFill>
              <a:srgbClr val="E098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56000" y="2880000"/>
            <a:ext cx="64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输入层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6000" y="2340000"/>
            <a:ext cx="64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双向层
(BiLSTM)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6000" y="1800000"/>
            <a:ext cx="64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输出层</a:t>
            </a:r>
          </a:p>
        </p:txBody>
      </p:sp>
      <p:sp>
        <p:nvSpPr>
          <p:cNvPr id="48" name="Oval 47"/>
          <p:cNvSpPr/>
          <p:nvPr/>
        </p:nvSpPr>
        <p:spPr>
          <a:xfrm>
            <a:off x="4068000" y="2844000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88000" y="2844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x_t-1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24000" y="253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24000" y="253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24000" y="217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24000" y="217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54" name="Oval 53"/>
          <p:cNvSpPr/>
          <p:nvPr/>
        </p:nvSpPr>
        <p:spPr>
          <a:xfrm>
            <a:off x="4104000" y="1800000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04000" y="1800000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8000" y="1728000"/>
            <a:ext cx="7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y_t-1</a:t>
            </a:r>
          </a:p>
        </p:txBody>
      </p:sp>
      <p:sp>
        <p:nvSpPr>
          <p:cNvPr id="57" name="Oval 56"/>
          <p:cNvSpPr/>
          <p:nvPr/>
        </p:nvSpPr>
        <p:spPr>
          <a:xfrm>
            <a:off x="5760000" y="2844000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80000" y="2844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x_t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16000" y="253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16000" y="253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16000" y="217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16000" y="217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63" name="Oval 62"/>
          <p:cNvSpPr/>
          <p:nvPr/>
        </p:nvSpPr>
        <p:spPr>
          <a:xfrm>
            <a:off x="5796000" y="1800000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96000" y="1800000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80000" y="1728000"/>
            <a:ext cx="7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y_t</a:t>
            </a:r>
          </a:p>
        </p:txBody>
      </p:sp>
      <p:sp>
        <p:nvSpPr>
          <p:cNvPr id="66" name="Oval 65"/>
          <p:cNvSpPr/>
          <p:nvPr/>
        </p:nvSpPr>
        <p:spPr>
          <a:xfrm>
            <a:off x="7452000" y="2844000"/>
            <a:ext cx="360000" cy="360000"/>
          </a:xfrm>
          <a:prstGeom prst="ellipse">
            <a:avLst/>
          </a:prstGeom>
          <a:solidFill>
            <a:srgbClr val="FFEBCD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2000" y="2844000"/>
            <a:ext cx="7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x_t+1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08000" y="253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08000" y="253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08000" y="2178000"/>
            <a:ext cx="648000" cy="251999"/>
          </a:xfrm>
          <a:prstGeom prst="roundRect">
            <a:avLst/>
          </a:prstGeom>
          <a:solidFill>
            <a:srgbClr val="DCEB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08000" y="2178000"/>
            <a:ext cx="64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LSTM</a:t>
            </a:r>
          </a:p>
        </p:txBody>
      </p:sp>
      <p:sp>
        <p:nvSpPr>
          <p:cNvPr id="72" name="Oval 71"/>
          <p:cNvSpPr/>
          <p:nvPr/>
        </p:nvSpPr>
        <p:spPr>
          <a:xfrm>
            <a:off x="7488000" y="1800000"/>
            <a:ext cx="288000" cy="288000"/>
          </a:xfrm>
          <a:prstGeom prst="ellipse">
            <a:avLst/>
          </a:prstGeom>
          <a:solidFill>
            <a:srgbClr val="FFC0C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88000" y="1800000"/>
            <a:ext cx="28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72000" y="1728000"/>
            <a:ext cx="7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y_t+1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992000" y="1944000"/>
            <a:ext cx="143999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8135999" y="1800000"/>
            <a:ext cx="792000" cy="288000"/>
          </a:xfrm>
          <a:prstGeom prst="roundRect">
            <a:avLst/>
          </a:prstGeom>
          <a:solidFill>
            <a:srgbClr val="F0F0FA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微软雅黑"/>
              </a:rPr>
              <a:t>h_target
(上下文)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20000" y="3240000"/>
            <a:ext cx="522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46464"/>
                </a:solidFill>
                <a:latin typeface="微软雅黑"/>
              </a:rPr>
              <a:t>说明：双向LSTM分别捕捉“由浅至深”和“由深至浅”的地质趋势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420000" y="3600000"/>
            <a:ext cx="5220000" cy="2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20000" y="3600000"/>
            <a:ext cx="522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特征注意力门控 (Feature Attention Gate)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00000" y="4320000"/>
            <a:ext cx="1007999" cy="432000"/>
          </a:xfrm>
          <a:prstGeom prst="roundRect">
            <a:avLst/>
          </a:prstGeom>
          <a:solidFill>
            <a:srgbClr val="D9EEF3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h_target
(时序上下文表示)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600000" y="5580000"/>
            <a:ext cx="1007999" cy="432000"/>
          </a:xfrm>
          <a:prstGeom prst="roundRect">
            <a:avLst/>
          </a:prstGeom>
          <a:solidFill>
            <a:srgbClr val="F7E7D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x_target
(当前深度物理特征)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608000" y="4536000"/>
            <a:ext cx="612000" cy="432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608000" y="5328000"/>
            <a:ext cx="612000" cy="468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220000" y="4860000"/>
            <a:ext cx="576000" cy="576000"/>
          </a:xfrm>
          <a:prstGeom prst="ellipse">
            <a:avLst/>
          </a:prstGeom>
          <a:solidFill>
            <a:srgbClr val="E9E3F1"/>
          </a:solidFill>
          <a:ln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20000" y="4860000"/>
            <a:ext cx="576000" cy="57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微软雅黑"/>
              </a:rPr>
              <a:t>评分
函数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796000" y="5148000"/>
            <a:ext cx="3240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6120000" y="4860000"/>
            <a:ext cx="900000" cy="576000"/>
          </a:xfrm>
          <a:prstGeom prst="roundRect">
            <a:avLst/>
          </a:prstGeom>
          <a:solidFill>
            <a:srgbClr val="E4EFE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Softmax激活
分配权重(α)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020000" y="5148000"/>
            <a:ext cx="4680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104000" y="6012000"/>
            <a:ext cx="0" cy="144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104000" y="6156000"/>
            <a:ext cx="3744000" cy="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848000" y="5436000"/>
            <a:ext cx="0" cy="72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7488000" y="4860000"/>
            <a:ext cx="900000" cy="57600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微软雅黑"/>
              </a:rPr>
              <a:t>特征贡献度加权
α ⊙ x_target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00000" y="3960000"/>
            <a:ext cx="48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微软雅黑"/>
              </a:rPr>
              <a:t>逻辑：上下文 h_target 决定当前环境下，各个物理参数 x_target 的贡献大小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532000" y="2088000"/>
            <a:ext cx="0" cy="1440000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4104000" y="3528000"/>
            <a:ext cx="4428000" cy="0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104000" y="3528000"/>
            <a:ext cx="0" cy="792000"/>
          </a:xfrm>
          <a:prstGeom prst="line">
            <a:avLst/>
          </a:prstGeom>
          <a:ln w="15240">
            <a:solidFill>
              <a:srgbClr val="D2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7560000" y="3528000"/>
            <a:ext cx="9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B46464"/>
                </a:solidFill>
                <a:latin typeface="微软雅黑"/>
              </a:rPr>
              <a:t>上下文状态传递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5940000" y="3204000"/>
            <a:ext cx="0" cy="2592000"/>
          </a:xfrm>
          <a:prstGeom prst="line">
            <a:avLst/>
          </a:prstGeom>
          <a:ln w="15240">
            <a:solidFill>
              <a:srgbClr val="96B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4608000" y="5796000"/>
            <a:ext cx="1332000" cy="0"/>
          </a:xfrm>
          <a:prstGeom prst="line">
            <a:avLst/>
          </a:prstGeom>
          <a:ln w="15240">
            <a:solidFill>
              <a:srgbClr val="96B4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5508000" y="5616000"/>
            <a:ext cx="90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64A064"/>
                </a:solidFill>
                <a:latin typeface="微软雅黑"/>
              </a:rPr>
              <a:t>当前时刻物理特征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80000" y="1260000"/>
            <a:ext cx="2448000" cy="1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80000" y="1260000"/>
            <a:ext cx="244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多尺度特征融合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80000" y="1620000"/>
            <a:ext cx="2448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微软雅黑"/>
              </a:rPr>
              <a:t>拼接上下文与加权特征：
[ h_target,
  x_target,
  weighted_x ]
送入全连接层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404000" y="2520000"/>
            <a:ext cx="0" cy="540000"/>
          </a:xfrm>
          <a:prstGeom prst="line">
            <a:avLst/>
          </a:prstGeom>
          <a:ln w="1905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9180000" y="3060000"/>
            <a:ext cx="24480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8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180000" y="3060000"/>
            <a:ext cx="2448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03A5C"/>
                </a:solidFill>
                <a:latin typeface="微软雅黑"/>
              </a:rPr>
              <a:t>多阶段综合输出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360000" y="3780000"/>
            <a:ext cx="2088000" cy="540000"/>
          </a:xfrm>
          <a:prstGeom prst="roundRect">
            <a:avLst/>
          </a:prstGeom>
          <a:solidFill>
            <a:srgbClr val="FAF0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1. 分类标签 (Gas/Oil/ 0/1)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9360000" y="4608000"/>
            <a:ext cx="2088000" cy="540000"/>
          </a:xfrm>
          <a:prstGeom prst="roundRect">
            <a:avLst/>
          </a:prstGeom>
          <a:solidFill>
            <a:srgbClr val="F0FAF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2. 储层指数 (平滑概率曲线)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360000" y="5436000"/>
            <a:ext cx="2088000" cy="540000"/>
          </a:xfrm>
          <a:prstGeom prst="roundRect">
            <a:avLst/>
          </a:prstGeom>
          <a:solidFill>
            <a:srgbClr val="F0F0F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微软雅黑"/>
              </a:rPr>
              <a:t>3. 参数敏感性 (α响应曲线)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