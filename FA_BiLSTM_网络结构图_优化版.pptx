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486000"/>
          </a:xfrm>
          <a:prstGeom prst="rect">
            <a:avLst/>
          </a:prstGeom>
          <a:solidFill>
            <a:srgbClr val="1C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4000" y="79200"/>
            <a:ext cx="3960000" cy="28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</a:rPr>
              <a:t>FA-BiLSTM 网络结构图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60000" y="100800"/>
            <a:ext cx="4248000" cy="216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E5ECF4"/>
                </a:solidFill>
                <a:latin typeface="Microsoft YaHei"/>
              </a:rPr>
              <a:t>输入序列  -&gt;  时序编码  -&gt;  特征耦合  -&gt;  分类输出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2000" y="1318538"/>
            <a:ext cx="1655999" cy="792000"/>
          </a:xfrm>
          <a:prstGeom prst="roundRect">
            <a:avLst/>
          </a:prstGeom>
          <a:solidFill>
            <a:srgbClr val="DFF1EC"/>
          </a:solidFill>
          <a:ln w="15240">
            <a:solidFill>
              <a:srgbClr val="788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C3454"/>
                </a:solidFill>
                <a:latin typeface="Microsoft YaHei"/>
              </a:rPr>
              <a:t>输入序列</a:t>
            </a:r>
          </a:p>
          <a:p>
            <a:pPr algn="ctr"/>
            <a:r>
              <a:rPr sz="1000" b="0">
                <a:solidFill>
                  <a:srgbClr val="63707E"/>
                </a:solidFill>
                <a:latin typeface="Microsoft YaHei"/>
              </a:rPr>
              <a:t>窗口长度 = 10</a:t>
            </a:r>
          </a:p>
        </p:txBody>
      </p:sp>
      <p:sp>
        <p:nvSpPr>
          <p:cNvPr id="6" name="Oval 5"/>
          <p:cNvSpPr/>
          <p:nvPr/>
        </p:nvSpPr>
        <p:spPr>
          <a:xfrm>
            <a:off x="432000" y="1102538"/>
            <a:ext cx="324000" cy="324000"/>
          </a:xfrm>
          <a:prstGeom prst="ellipse">
            <a:avLst/>
          </a:prstGeom>
          <a:solidFill>
            <a:srgbClr val="1C345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0" y="1318538"/>
            <a:ext cx="1655999" cy="792000"/>
          </a:xfrm>
          <a:prstGeom prst="roundRect">
            <a:avLst/>
          </a:prstGeom>
          <a:solidFill>
            <a:srgbClr val="FBEDD6"/>
          </a:solidFill>
          <a:ln w="15240">
            <a:solidFill>
              <a:srgbClr val="788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C3454"/>
                </a:solidFill>
                <a:latin typeface="Microsoft YaHei"/>
              </a:rPr>
              <a:t>BiLSTM 编码</a:t>
            </a:r>
          </a:p>
          <a:p>
            <a:pPr algn="ctr"/>
            <a:r>
              <a:rPr sz="1000" b="0">
                <a:solidFill>
                  <a:srgbClr val="63707E"/>
                </a:solidFill>
                <a:latin typeface="Microsoft YaHei"/>
              </a:rPr>
              <a:t>1层双向LSTM | hidden = 16</a:t>
            </a:r>
          </a:p>
        </p:txBody>
      </p:sp>
      <p:sp>
        <p:nvSpPr>
          <p:cNvPr id="8" name="Oval 7"/>
          <p:cNvSpPr/>
          <p:nvPr/>
        </p:nvSpPr>
        <p:spPr>
          <a:xfrm>
            <a:off x="2520000" y="1102538"/>
            <a:ext cx="324000" cy="324000"/>
          </a:xfrm>
          <a:prstGeom prst="ellipse">
            <a:avLst/>
          </a:prstGeom>
          <a:solidFill>
            <a:srgbClr val="1C345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08000" y="940538"/>
            <a:ext cx="1512000" cy="630000"/>
          </a:xfrm>
          <a:prstGeom prst="roundRect">
            <a:avLst/>
          </a:prstGeom>
          <a:solidFill>
            <a:srgbClr val="DEEAF8"/>
          </a:solidFill>
          <a:ln w="15240">
            <a:solidFill>
              <a:srgbClr val="788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C3454"/>
                </a:solidFill>
                <a:latin typeface="Microsoft YaHei"/>
              </a:rPr>
              <a:t>上下文向量</a:t>
            </a:r>
          </a:p>
          <a:p>
            <a:pPr algn="ctr"/>
            <a:r>
              <a:rPr sz="1000" b="0">
                <a:solidFill>
                  <a:srgbClr val="63707E"/>
                </a:solidFill>
                <a:latin typeface="Microsoft YaHei"/>
              </a:rPr>
              <a:t>h_target</a:t>
            </a:r>
          </a:p>
        </p:txBody>
      </p:sp>
      <p:sp>
        <p:nvSpPr>
          <p:cNvPr id="10" name="Oval 9"/>
          <p:cNvSpPr/>
          <p:nvPr/>
        </p:nvSpPr>
        <p:spPr>
          <a:xfrm>
            <a:off x="4608000" y="724538"/>
            <a:ext cx="324000" cy="324000"/>
          </a:xfrm>
          <a:prstGeom prst="ellipse">
            <a:avLst/>
          </a:prstGeom>
          <a:solidFill>
            <a:srgbClr val="1C345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08000" y="1804537"/>
            <a:ext cx="1512000" cy="630000"/>
          </a:xfrm>
          <a:prstGeom prst="roundRect">
            <a:avLst/>
          </a:prstGeom>
          <a:solidFill>
            <a:srgbClr val="DEEAF8"/>
          </a:solidFill>
          <a:ln w="15240">
            <a:solidFill>
              <a:srgbClr val="788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C3454"/>
                </a:solidFill>
                <a:latin typeface="Microsoft YaHei"/>
              </a:rPr>
              <a:t>当前特征</a:t>
            </a:r>
          </a:p>
          <a:p>
            <a:pPr algn="ctr"/>
            <a:r>
              <a:rPr sz="1000" b="0">
                <a:solidFill>
                  <a:srgbClr val="63707E"/>
                </a:solidFill>
                <a:latin typeface="Microsoft YaHei"/>
              </a:rPr>
              <a:t>x_target</a:t>
            </a:r>
          </a:p>
        </p:txBody>
      </p:sp>
      <p:sp>
        <p:nvSpPr>
          <p:cNvPr id="12" name="Oval 11"/>
          <p:cNvSpPr/>
          <p:nvPr/>
        </p:nvSpPr>
        <p:spPr>
          <a:xfrm>
            <a:off x="4608000" y="1588537"/>
            <a:ext cx="324000" cy="324000"/>
          </a:xfrm>
          <a:prstGeom prst="ellipse">
            <a:avLst/>
          </a:prstGeom>
          <a:solidFill>
            <a:srgbClr val="1C345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8000" y="1318538"/>
            <a:ext cx="1764000" cy="792000"/>
          </a:xfrm>
          <a:prstGeom prst="roundRect">
            <a:avLst/>
          </a:prstGeom>
          <a:solidFill>
            <a:srgbClr val="E0EED6"/>
          </a:solidFill>
          <a:ln w="15240">
            <a:solidFill>
              <a:srgbClr val="788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C3454"/>
                </a:solidFill>
                <a:latin typeface="Microsoft YaHei"/>
              </a:rPr>
              <a:t>特征注意力</a:t>
            </a:r>
          </a:p>
          <a:p>
            <a:pPr algn="ctr"/>
            <a:r>
              <a:rPr sz="1000" b="0">
                <a:solidFill>
                  <a:srgbClr val="63707E"/>
                </a:solidFill>
                <a:latin typeface="Microsoft YaHei"/>
              </a:rPr>
              <a:t>attention_dim = 32</a:t>
            </a:r>
          </a:p>
        </p:txBody>
      </p:sp>
      <p:sp>
        <p:nvSpPr>
          <p:cNvPr id="14" name="Oval 13"/>
          <p:cNvSpPr/>
          <p:nvPr/>
        </p:nvSpPr>
        <p:spPr>
          <a:xfrm>
            <a:off x="6588000" y="1102538"/>
            <a:ext cx="324000" cy="324000"/>
          </a:xfrm>
          <a:prstGeom prst="ellipse">
            <a:avLst/>
          </a:prstGeom>
          <a:solidFill>
            <a:srgbClr val="1C345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84000" y="940538"/>
            <a:ext cx="1512000" cy="630000"/>
          </a:xfrm>
          <a:prstGeom prst="roundRect">
            <a:avLst/>
          </a:prstGeom>
          <a:solidFill>
            <a:srgbClr val="F4E1E0"/>
          </a:solidFill>
          <a:ln w="15240">
            <a:solidFill>
              <a:srgbClr val="788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C3454"/>
                </a:solidFill>
                <a:latin typeface="Microsoft YaHei"/>
              </a:rPr>
              <a:t>加权特征</a:t>
            </a:r>
          </a:p>
          <a:p>
            <a:pPr algn="ctr"/>
            <a:r>
              <a:rPr sz="1000" b="0">
                <a:solidFill>
                  <a:srgbClr val="63707E"/>
                </a:solidFill>
                <a:latin typeface="Microsoft YaHei"/>
              </a:rPr>
              <a:t>weighted_x = α ⊙ x_target</a:t>
            </a:r>
          </a:p>
        </p:txBody>
      </p:sp>
      <p:sp>
        <p:nvSpPr>
          <p:cNvPr id="16" name="Oval 15"/>
          <p:cNvSpPr/>
          <p:nvPr/>
        </p:nvSpPr>
        <p:spPr>
          <a:xfrm>
            <a:off x="8784000" y="724538"/>
            <a:ext cx="324000" cy="324000"/>
          </a:xfrm>
          <a:prstGeom prst="ellipse">
            <a:avLst/>
          </a:prstGeom>
          <a:solidFill>
            <a:srgbClr val="1C345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84000" y="1804537"/>
            <a:ext cx="1512000" cy="630000"/>
          </a:xfrm>
          <a:prstGeom prst="roundRect">
            <a:avLst/>
          </a:prstGeom>
          <a:solidFill>
            <a:srgbClr val="EAE2F2"/>
          </a:solidFill>
          <a:ln w="15240">
            <a:solidFill>
              <a:srgbClr val="788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C3454"/>
                </a:solidFill>
                <a:latin typeface="Microsoft YaHei"/>
              </a:rPr>
              <a:t>融合表示</a:t>
            </a:r>
          </a:p>
          <a:p>
            <a:pPr algn="ctr"/>
            <a:r>
              <a:rPr sz="1000" b="0">
                <a:solidFill>
                  <a:srgbClr val="63707E"/>
                </a:solidFill>
                <a:latin typeface="Microsoft YaHei"/>
              </a:rPr>
              <a:t>[h_target, x_target, weighted_x]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56000" y="1318538"/>
            <a:ext cx="1116000" cy="792000"/>
          </a:xfrm>
          <a:prstGeom prst="roundRect">
            <a:avLst/>
          </a:prstGeom>
          <a:solidFill>
            <a:srgbClr val="FCF0CE"/>
          </a:solidFill>
          <a:ln w="15240">
            <a:solidFill>
              <a:srgbClr val="788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C3454"/>
                </a:solidFill>
                <a:latin typeface="Microsoft YaHei"/>
              </a:rPr>
              <a:t>分类头</a:t>
            </a:r>
          </a:p>
          <a:p>
            <a:pPr algn="ctr"/>
            <a:r>
              <a:rPr sz="1000" b="0">
                <a:solidFill>
                  <a:srgbClr val="63707E"/>
                </a:solidFill>
                <a:latin typeface="Microsoft YaHei"/>
              </a:rPr>
              <a:t>FC + ReLU + Dropout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000" y="2200538"/>
            <a:ext cx="1728000" cy="32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3707E"/>
                </a:solidFill>
                <a:latin typeface="Microsoft YaHei"/>
              </a:rPr>
              <a:t>有效储层: MLR, AMPST, PHIE
气液识别: Sigma, RICX, RIN13, RATO13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2000" y="2200538"/>
            <a:ext cx="1548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3707E"/>
                </a:solidFill>
                <a:latin typeface="Microsoft YaHei"/>
              </a:rPr>
              <a:t>提取井深方向的上下文时序特征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1692" y="2650847"/>
            <a:ext cx="2136616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dirty="0">
                <a:solidFill>
                  <a:srgbClr val="63707E"/>
                </a:solidFill>
                <a:latin typeface="Microsoft YaHei"/>
              </a:rPr>
              <a:t>由 </a:t>
            </a:r>
            <a:r>
              <a:rPr sz="1000" b="0" dirty="0" err="1">
                <a:solidFill>
                  <a:srgbClr val="63707E"/>
                </a:solidFill>
                <a:latin typeface="Microsoft YaHei"/>
              </a:rPr>
              <a:t>h_target</a:t>
            </a:r>
            <a:r>
              <a:rPr sz="1000" b="0" dirty="0">
                <a:solidFill>
                  <a:srgbClr val="63707E"/>
                </a:solidFill>
                <a:latin typeface="Microsoft YaHei"/>
              </a:rPr>
              <a:t> 与 </a:t>
            </a:r>
            <a:r>
              <a:rPr sz="1000" b="0" dirty="0" err="1">
                <a:solidFill>
                  <a:srgbClr val="63707E"/>
                </a:solidFill>
                <a:latin typeface="Microsoft YaHei"/>
              </a:rPr>
              <a:t>x_target</a:t>
            </a:r>
            <a:r>
              <a:rPr sz="1000" b="0" dirty="0">
                <a:solidFill>
                  <a:srgbClr val="63707E"/>
                </a:solidFill>
                <a:latin typeface="Microsoft YaHei"/>
              </a:rPr>
              <a:t> </a:t>
            </a:r>
            <a:r>
              <a:rPr sz="1000" b="0" dirty="0" err="1">
                <a:solidFill>
                  <a:srgbClr val="63707E"/>
                </a:solidFill>
                <a:latin typeface="Microsoft YaHei"/>
              </a:rPr>
              <a:t>共同计算</a:t>
            </a:r>
            <a:r>
              <a:rPr sz="1000" b="0" dirty="0">
                <a:solidFill>
                  <a:srgbClr val="63707E"/>
                </a:solidFill>
                <a:latin typeface="Microsoft YaHei"/>
              </a:rPr>
              <a:t>
</a:t>
            </a:r>
            <a:r>
              <a:rPr sz="1000" b="0" dirty="0" err="1">
                <a:solidFill>
                  <a:srgbClr val="63707E"/>
                </a:solidFill>
                <a:latin typeface="Microsoft YaHei"/>
              </a:rPr>
              <a:t>各输入参数的动态权重</a:t>
            </a:r>
            <a:r>
              <a:rPr sz="1000" b="0" dirty="0">
                <a:solidFill>
                  <a:srgbClr val="63707E"/>
                </a:solidFill>
                <a:latin typeface="Microsoft YaHei"/>
              </a:rPr>
              <a:t> 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42000" y="2649535"/>
            <a:ext cx="3096000" cy="251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dirty="0">
                <a:solidFill>
                  <a:srgbClr val="63707E"/>
                </a:solidFill>
                <a:latin typeface="Microsoft YaHei"/>
              </a:rPr>
              <a:t>Linear(</a:t>
            </a:r>
            <a:r>
              <a:rPr sz="1000" b="0" dirty="0" err="1">
                <a:solidFill>
                  <a:srgbClr val="63707E"/>
                </a:solidFill>
                <a:latin typeface="Microsoft YaHei"/>
              </a:rPr>
              <a:t>fusion_size</a:t>
            </a:r>
            <a:r>
              <a:rPr sz="1000" b="0" dirty="0">
                <a:solidFill>
                  <a:srgbClr val="63707E"/>
                </a:solidFill>
                <a:latin typeface="Microsoft YaHei"/>
              </a:rPr>
              <a:t> -&gt; 16) + </a:t>
            </a:r>
            <a:r>
              <a:rPr sz="1000" b="0" dirty="0" err="1">
                <a:solidFill>
                  <a:srgbClr val="63707E"/>
                </a:solidFill>
                <a:latin typeface="Microsoft YaHei"/>
              </a:rPr>
              <a:t>ReLU</a:t>
            </a:r>
            <a:r>
              <a:rPr sz="1000" b="0" dirty="0">
                <a:solidFill>
                  <a:srgbClr val="63707E"/>
                </a:solidFill>
                <a:latin typeface="Microsoft YaHei"/>
              </a:rPr>
              <a:t> + Dropout(0.2) + Linear(16 -&gt; 2)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088000" y="1714537"/>
            <a:ext cx="432000" cy="0"/>
          </a:xfrm>
          <a:prstGeom prst="line">
            <a:avLst/>
          </a:prstGeom>
          <a:ln w="27940">
            <a:solidFill>
              <a:srgbClr val="788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176000" y="1264538"/>
            <a:ext cx="432000" cy="449999"/>
          </a:xfrm>
          <a:prstGeom prst="line">
            <a:avLst/>
          </a:prstGeom>
          <a:ln w="27940">
            <a:solidFill>
              <a:srgbClr val="788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176000" y="1714537"/>
            <a:ext cx="432000" cy="396001"/>
          </a:xfrm>
          <a:prstGeom prst="line">
            <a:avLst/>
          </a:prstGeom>
          <a:ln w="27940">
            <a:solidFill>
              <a:srgbClr val="788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20000" y="1264538"/>
            <a:ext cx="468000" cy="414000"/>
          </a:xfrm>
          <a:prstGeom prst="line">
            <a:avLst/>
          </a:prstGeom>
          <a:ln w="27940">
            <a:solidFill>
              <a:srgbClr val="788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120000" y="1750538"/>
            <a:ext cx="468000" cy="360000"/>
          </a:xfrm>
          <a:prstGeom prst="line">
            <a:avLst/>
          </a:prstGeom>
          <a:ln w="27940">
            <a:solidFill>
              <a:srgbClr val="788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52000" y="1264538"/>
            <a:ext cx="432000" cy="414000"/>
          </a:xfrm>
          <a:prstGeom prst="line">
            <a:avLst/>
          </a:prstGeom>
          <a:ln w="27940">
            <a:solidFill>
              <a:srgbClr val="788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cxnSpLocks/>
          </p:cNvCxnSpPr>
          <p:nvPr/>
        </p:nvCxnSpPr>
        <p:spPr>
          <a:xfrm>
            <a:off x="6120000" y="2110538"/>
            <a:ext cx="0" cy="486000"/>
          </a:xfrm>
          <a:prstGeom prst="line">
            <a:avLst/>
          </a:prstGeom>
          <a:ln w="27940">
            <a:solidFill>
              <a:srgbClr val="788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cxnSpLocks/>
          </p:cNvCxnSpPr>
          <p:nvPr/>
        </p:nvCxnSpPr>
        <p:spPr>
          <a:xfrm>
            <a:off x="6120000" y="2600952"/>
            <a:ext cx="3240000" cy="0"/>
          </a:xfrm>
          <a:prstGeom prst="line">
            <a:avLst/>
          </a:prstGeom>
          <a:ln w="27940">
            <a:solidFill>
              <a:srgbClr val="788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9360000" y="2434538"/>
            <a:ext cx="0" cy="162000"/>
          </a:xfrm>
          <a:prstGeom prst="line">
            <a:avLst/>
          </a:prstGeom>
          <a:ln w="27940">
            <a:solidFill>
              <a:srgbClr val="788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360000" y="1570538"/>
            <a:ext cx="0" cy="233999"/>
          </a:xfrm>
          <a:prstGeom prst="line">
            <a:avLst/>
          </a:prstGeom>
          <a:ln w="27940">
            <a:solidFill>
              <a:srgbClr val="788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0296000" y="1714537"/>
            <a:ext cx="360000" cy="396001"/>
          </a:xfrm>
          <a:prstGeom prst="line">
            <a:avLst/>
          </a:prstGeom>
          <a:ln w="27940">
            <a:solidFill>
              <a:srgbClr val="78828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32000" y="3550537"/>
            <a:ext cx="2520000" cy="1655999"/>
          </a:xfrm>
          <a:prstGeom prst="roundRect">
            <a:avLst/>
          </a:prstGeom>
          <a:solidFill>
            <a:srgbClr val="E8EAEE"/>
          </a:solidFill>
          <a:ln w="12700">
            <a:solidFill>
              <a:srgbClr val="788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6000" y="3676537"/>
            <a:ext cx="2232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3454"/>
                </a:solidFill>
                <a:latin typeface="Microsoft YaHei"/>
              </a:rPr>
              <a:t>输出结果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00" y="3946537"/>
            <a:ext cx="2232000" cy="11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2E3842"/>
                </a:solidFill>
                <a:latin typeface="Microsoft YaHei"/>
              </a:rPr>
              <a:t>1. </a:t>
            </a:r>
            <a:r>
              <a:rPr sz="1100" b="0" dirty="0" err="1">
                <a:solidFill>
                  <a:srgbClr val="2E3842"/>
                </a:solidFill>
                <a:latin typeface="Microsoft YaHei"/>
              </a:rPr>
              <a:t>分类标签</a:t>
            </a:r>
            <a:r>
              <a:rPr sz="1100" b="0" dirty="0">
                <a:solidFill>
                  <a:srgbClr val="2E3842"/>
                </a:solidFill>
                <a:latin typeface="Microsoft YaHei"/>
              </a:rPr>
              <a:t>
2. </a:t>
            </a:r>
            <a:r>
              <a:rPr sz="1100" b="0" dirty="0" err="1">
                <a:solidFill>
                  <a:srgbClr val="2E3842"/>
                </a:solidFill>
                <a:latin typeface="Microsoft YaHei"/>
              </a:rPr>
              <a:t>连续指示曲线（Logits</a:t>
            </a:r>
            <a:r>
              <a:rPr sz="1100" b="0" dirty="0">
                <a:solidFill>
                  <a:srgbClr val="2E3842"/>
                </a:solidFill>
                <a:latin typeface="Microsoft YaHei"/>
              </a:rPr>
              <a:t> / </a:t>
            </a:r>
            <a:r>
              <a:rPr sz="1100" b="0" dirty="0" err="1">
                <a:solidFill>
                  <a:srgbClr val="2E3842"/>
                </a:solidFill>
                <a:latin typeface="Microsoft YaHei"/>
              </a:rPr>
              <a:t>归一化曲线</a:t>
            </a:r>
            <a:r>
              <a:rPr sz="1100" b="0" dirty="0">
                <a:solidFill>
                  <a:srgbClr val="2E3842"/>
                </a:solidFill>
                <a:latin typeface="Microsoft YaHei"/>
              </a:rPr>
              <a:t>）
3. </a:t>
            </a:r>
            <a:r>
              <a:rPr sz="1100" b="0" dirty="0" err="1">
                <a:solidFill>
                  <a:srgbClr val="2E3842"/>
                </a:solidFill>
                <a:latin typeface="Microsoft YaHei"/>
              </a:rPr>
              <a:t>动态特征权重曲线</a:t>
            </a:r>
            <a:r>
              <a:rPr sz="1100" b="0" dirty="0">
                <a:solidFill>
                  <a:srgbClr val="2E3842"/>
                </a:solidFill>
                <a:latin typeface="Microsoft YaHei"/>
              </a:rPr>
              <a:t> </a:t>
            </a:r>
            <a:r>
              <a:rPr sz="1100" b="0" dirty="0" err="1">
                <a:solidFill>
                  <a:srgbClr val="2E3842"/>
                </a:solidFill>
                <a:latin typeface="Microsoft YaHei"/>
              </a:rPr>
              <a:t>FA_alpha</a:t>
            </a:r>
            <a:r>
              <a:rPr sz="1100" b="0" dirty="0">
                <a:solidFill>
                  <a:srgbClr val="2E3842"/>
                </a:solidFill>
                <a:latin typeface="Microsoft YaHei"/>
              </a:rPr>
              <a:t>_*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0000" y="3550537"/>
            <a:ext cx="2988000" cy="1655999"/>
          </a:xfrm>
          <a:prstGeom prst="roundRect">
            <a:avLst/>
          </a:prstGeom>
          <a:solidFill>
            <a:srgbClr val="E1ECF3"/>
          </a:solidFill>
          <a:ln w="12700">
            <a:solidFill>
              <a:srgbClr val="788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84000" y="3676537"/>
            <a:ext cx="270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3454"/>
                </a:solidFill>
                <a:latin typeface="Microsoft YaHei"/>
              </a:rPr>
              <a:t>训练设置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4000" y="3946537"/>
            <a:ext cx="2700000" cy="11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E3842"/>
                </a:solidFill>
                <a:latin typeface="Microsoft YaHei"/>
              </a:rPr>
              <a:t>学习率 0.003
最大轮数 180
Early Stopping = 25
Adam + weight decay = 1e-4
高斯噪声增强 + 少量特征 dropout
梯度裁剪 max_norm = 3.0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16000" y="3550537"/>
            <a:ext cx="2448000" cy="1655999"/>
          </a:xfrm>
          <a:prstGeom prst="roundRect">
            <a:avLst/>
          </a:prstGeom>
          <a:solidFill>
            <a:srgbClr val="F7E8E5"/>
          </a:solidFill>
          <a:ln w="12700">
            <a:solidFill>
              <a:srgbClr val="788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60000" y="3676537"/>
            <a:ext cx="2160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3454"/>
                </a:solidFill>
                <a:latin typeface="Microsoft YaHei"/>
              </a:rPr>
              <a:t>模块含义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60000" y="3946537"/>
            <a:ext cx="2160000" cy="11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E3842"/>
                </a:solidFill>
                <a:latin typeface="Microsoft YaHei"/>
              </a:rPr>
              <a:t>BiLSTM 负责提取井深方向的时序依赖。
特征注意力层负责多参数动态耦合。
融合层同时保留时序信息与原始物理特征。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16000" y="3550537"/>
            <a:ext cx="2556000" cy="1655999"/>
          </a:xfrm>
          <a:prstGeom prst="roundRect">
            <a:avLst/>
          </a:prstGeom>
          <a:solidFill>
            <a:srgbClr val="E8F0DB"/>
          </a:solidFill>
          <a:ln w="12700">
            <a:solidFill>
              <a:srgbClr val="7882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360000" y="3676537"/>
            <a:ext cx="2268000" cy="21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3454"/>
                </a:solidFill>
                <a:latin typeface="Microsoft YaHei"/>
              </a:rPr>
              <a:t>消融实验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0000" y="3946537"/>
            <a:ext cx="2268000" cy="115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E3842"/>
                </a:solidFill>
                <a:latin typeface="Microsoft YaHei"/>
              </a:rPr>
              <a:t>LDA：线性基线
BiLSTM：仅时序建模
FA-BiLSTM：时序建模 + 特征注意力
用于验证鲁棒性与多参数耦合增益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2000" y="3226538"/>
            <a:ext cx="2160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C3454"/>
                </a:solidFill>
                <a:latin typeface="Microsoft YaHei"/>
              </a:rPr>
              <a:t>模型输出与实验说明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2000" y="868538"/>
            <a:ext cx="2880000" cy="1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C3454"/>
                </a:solidFill>
                <a:latin typeface="Microsoft YaHei"/>
              </a:rPr>
              <a:t>主流程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203</Words>
  <Application>Microsoft Office PowerPoint</Application>
  <PresentationFormat>宽屏</PresentationFormat>
  <Paragraphs>38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Hao Zhou</cp:lastModifiedBy>
  <cp:revision>3</cp:revision>
  <dcterms:created xsi:type="dcterms:W3CDTF">2013-01-27T09:14:16Z</dcterms:created>
  <dcterms:modified xsi:type="dcterms:W3CDTF">2026-04-05T05:29:50Z</dcterms:modified>
  <cp:category/>
</cp:coreProperties>
</file>