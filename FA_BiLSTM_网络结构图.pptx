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334D"/>
                </a:solidFill>
                <a:latin typeface="Microsoft YaHei"/>
              </a:rPr>
              <a:t>FA-BiLSTM 网络结构示意图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0000" y="162000"/>
            <a:ext cx="64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05050"/>
                </a:solidFill>
                <a:latin typeface="Microsoft YaHei"/>
              </a:rPr>
              <a:t>输入序列 -&gt; BiLSTM 时序编码 -&gt; 特征注意力耦合 -&gt; 融合分类输出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080000"/>
            <a:ext cx="1800000" cy="792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latin typeface="Microsoft YaHei"/>
              </a:rPr>
              <a:t>输入测井序列
窗口长度 =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925999"/>
            <a:ext cx="1872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82828"/>
                </a:solidFill>
                <a:latin typeface="Microsoft YaHei"/>
              </a:rPr>
              <a:t>有效储层任务: MLR, AMPST, PHIE
气液识别任务: Sigma, RICX, RIN13, RATO13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2000" y="1080000"/>
            <a:ext cx="1728000" cy="792000"/>
          </a:xfrm>
          <a:prstGeom prst="roundRect">
            <a:avLst/>
          </a:prstGeom>
          <a:solidFill>
            <a:srgbClr val="FFECD1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latin typeface="Microsoft YaHei"/>
              </a:rPr>
              <a:t>1层 BiLSTM
hidden_size = 16
输出维度 =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4000" y="1925999"/>
            <a:ext cx="1728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82828"/>
                </a:solidFill>
                <a:latin typeface="Microsoft YaHei"/>
              </a:rPr>
              <a:t>提取井深方向上下文时序特征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2000" y="648000"/>
            <a:ext cx="1620000" cy="6480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latin typeface="Microsoft YaHei"/>
              </a:rPr>
              <a:t>末端时刻上下文
h_target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2000" y="1512000"/>
            <a:ext cx="1620000" cy="6480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latin typeface="Microsoft YaHei"/>
              </a:rPr>
              <a:t>当前深度原始特征
x_target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12000" y="1007999"/>
            <a:ext cx="1908000" cy="827999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latin typeface="Microsoft YaHei"/>
              </a:rPr>
              <a:t>特征注意力层
attention_dim = 32
sigmoid门控 + 归一化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3999" y="1890000"/>
            <a:ext cx="190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82828"/>
                </a:solidFill>
                <a:latin typeface="Microsoft YaHei"/>
              </a:rPr>
              <a:t>依据 h_target 与 x_target
计算各输入参数的动态耦合权重 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8000" y="648000"/>
            <a:ext cx="1620000" cy="648000"/>
          </a:xfrm>
          <a:prstGeom prst="roundRect">
            <a:avLst/>
          </a:prstGeom>
          <a:solidFill>
            <a:srgbClr val="F2DCDB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latin typeface="Microsoft YaHei"/>
              </a:rPr>
              <a:t>加权特征
weighted_x = α ⊙ x_target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8000" y="1548000"/>
            <a:ext cx="1728000" cy="720000"/>
          </a:xfrm>
          <a:prstGeom prst="roundRect">
            <a:avLst/>
          </a:prstGeom>
          <a:solidFill>
            <a:srgbClr val="F4E6F6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latin typeface="Microsoft YaHei"/>
              </a:rPr>
              <a:t>特征融合
[h_target, x_target, weighted_x]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232000" y="1080000"/>
            <a:ext cx="720000" cy="7920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latin typeface="Microsoft YaHei"/>
              </a:rPr>
              <a:t>分类头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2376000"/>
            <a:ext cx="2232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82828"/>
                </a:solidFill>
                <a:latin typeface="Microsoft YaHei"/>
              </a:rPr>
              <a:t>Linear(fusion_size-&gt;16) + ReLU + Dropout(0.2) + Linear(16-&gt;2)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3671999"/>
            <a:ext cx="2160000" cy="864000"/>
          </a:xfrm>
          <a:prstGeom prst="roundRect">
            <a:avLst/>
          </a:prstGeom>
          <a:solidFill>
            <a:srgbClr val="D9D9D9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latin typeface="Microsoft YaHei"/>
              </a:rPr>
              <a:t>输出结果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4590000"/>
            <a:ext cx="2232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82828"/>
                </a:solidFill>
                <a:latin typeface="Microsoft YaHei"/>
              </a:rPr>
              <a:t>1. 分类标签
2. 连续指示曲线(Logits/归一化曲线)
3. 动态特征权重曲线 FA_alpha_*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51999" y="3564000"/>
            <a:ext cx="3456000" cy="1440000"/>
          </a:xfrm>
          <a:prstGeom prst="roundRect">
            <a:avLst/>
          </a:prstGeom>
          <a:solidFill>
            <a:srgbClr val="D0E0E3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latin typeface="Microsoft YaHei"/>
              </a:rPr>
              <a:t>训练细节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0000" y="3960000"/>
            <a:ext cx="3311999" cy="11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Microsoft YaHei"/>
              </a:rPr>
              <a:t>学习率 0.003，最大轮数 180，Early Stopping=25
Adam + weight decay(1e-4)
高斯噪声增强 + 少量特征dropout
梯度裁剪 max_norm=3.0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12000" y="3564000"/>
            <a:ext cx="2232000" cy="1440000"/>
          </a:xfrm>
          <a:prstGeom prst="roundRect">
            <a:avLst/>
          </a:prstGeom>
          <a:solidFill>
            <a:srgbClr val="FFE6E6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latin typeface="Microsoft YaHei"/>
              </a:rPr>
              <a:t>工程意义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0000" y="3960000"/>
            <a:ext cx="2088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Microsoft YaHei"/>
              </a:rPr>
              <a:t>BiLSTM 负责建模井深方向时序依赖
注意力层负责多参数动态耦合
最终输出既可分类，也可生成可解释曲线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2000" y="3564000"/>
            <a:ext cx="2448000" cy="14400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latin typeface="Microsoft YaHei"/>
              </a:rPr>
              <a:t>消融实验对比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0000" y="3960000"/>
            <a:ext cx="2232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Microsoft YaHei"/>
              </a:rPr>
              <a:t>LDA：线性基线
BiLSTM：仅时序建模
FA-BiLSTM：时序建模 + 特征注意力
用于验证鲁棒性与耦合增益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60000" y="1475999"/>
            <a:ext cx="432000" cy="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320000" y="972000"/>
            <a:ext cx="432000" cy="503999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320000" y="1475999"/>
            <a:ext cx="432000" cy="36000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72000" y="972000"/>
            <a:ext cx="540000" cy="28800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372000" y="1548000"/>
            <a:ext cx="540000" cy="287999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820000" y="972000"/>
            <a:ext cx="468000" cy="43200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20000" y="1404000"/>
            <a:ext cx="468000" cy="46800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016000" y="1475999"/>
            <a:ext cx="216000" cy="396001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92000" y="1872000"/>
            <a:ext cx="0" cy="129600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440000" y="3168000"/>
            <a:ext cx="10152000" cy="503999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