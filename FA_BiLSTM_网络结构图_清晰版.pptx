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25999"/>
            <a:ext cx="1080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F3A5C"/>
                </a:solidFill>
                <a:latin typeface="Microsoft YaHei"/>
              </a:rPr>
              <a:t>BiLSTM 与特征注意力机制网络结构图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8000" y="396000"/>
            <a:ext cx="7920000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56F7B"/>
                </a:solidFill>
                <a:latin typeface="Microsoft YaHei"/>
              </a:rPr>
              <a:t>输入参数序列  -&gt;  BiLSTM 主干  -&gt;  注意力加权  -&gt;  融合输出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792000"/>
            <a:ext cx="2304000" cy="4824000"/>
          </a:xfrm>
          <a:prstGeom prst="roundRect">
            <a:avLst/>
          </a:prstGeom>
          <a:solidFill>
            <a:srgbClr val="EEF3F9"/>
          </a:solidFill>
          <a:ln w="1397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4000" y="792000"/>
            <a:ext cx="2304000" cy="306000"/>
          </a:xfrm>
          <a:prstGeom prst="rect">
            <a:avLst/>
          </a:prstGeom>
          <a:solidFill>
            <a:srgbClr val="D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" y="820800"/>
            <a:ext cx="2304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C"/>
                </a:solidFill>
                <a:latin typeface="Microsoft YaHei"/>
              </a:rPr>
              <a:t>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4000" y="792000"/>
            <a:ext cx="6408000" cy="4824000"/>
          </a:xfrm>
          <a:prstGeom prst="roundRect">
            <a:avLst/>
          </a:prstGeom>
          <a:solidFill>
            <a:srgbClr val="EEF3F9"/>
          </a:solidFill>
          <a:ln w="1397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44000" y="792000"/>
            <a:ext cx="6408000" cy="306000"/>
          </a:xfrm>
          <a:prstGeom prst="rect">
            <a:avLst/>
          </a:prstGeom>
          <a:solidFill>
            <a:srgbClr val="D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4000" y="820800"/>
            <a:ext cx="6408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C"/>
                </a:solidFill>
                <a:latin typeface="Microsoft YaHei"/>
              </a:rPr>
              <a:t>BiLSTM + 特征注意力主干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32000" y="792000"/>
            <a:ext cx="2412000" cy="4824000"/>
          </a:xfrm>
          <a:prstGeom prst="roundRect">
            <a:avLst/>
          </a:prstGeom>
          <a:solidFill>
            <a:srgbClr val="EEF3F9"/>
          </a:solidFill>
          <a:ln w="1397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32000" y="792000"/>
            <a:ext cx="2412000" cy="306000"/>
          </a:xfrm>
          <a:prstGeom prst="rect">
            <a:avLst/>
          </a:prstGeom>
          <a:solidFill>
            <a:srgbClr val="D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2000" y="820800"/>
            <a:ext cx="2412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3A5C"/>
                </a:solidFill>
                <a:latin typeface="Microsoft YaHei"/>
              </a:rPr>
              <a:t>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1080000"/>
            <a:ext cx="2015999" cy="1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Microsoft YaHei"/>
              </a:rPr>
              <a:t>多参数测井序列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000" y="1440000"/>
            <a:ext cx="522000" cy="244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1483200"/>
            <a:ext cx="522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A323C"/>
                </a:solidFill>
                <a:latin typeface="Microsoft YaHei"/>
              </a:rPr>
              <a:t>MLR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1200" y="2062799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1200" y="24876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1200" y="29124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1200" y="33372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2500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9000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5499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2800" y="1728000"/>
            <a:ext cx="72000" cy="720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4800" y="1764000"/>
            <a:ext cx="86400" cy="360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1200" y="1764000"/>
            <a:ext cx="82800" cy="1080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4000" y="1818000"/>
            <a:ext cx="90000" cy="540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4000" y="1818000"/>
            <a:ext cx="90000" cy="1440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54000" y="1900800"/>
            <a:ext cx="97200" cy="612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51200" y="1900800"/>
            <a:ext cx="86400" cy="1440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37600" y="1998000"/>
            <a:ext cx="86400" cy="46800"/>
          </a:xfrm>
          <a:prstGeom prst="line">
            <a:avLst/>
          </a:prstGeom>
          <a:ln w="25400">
            <a:solidFill>
              <a:srgbClr val="6881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62000" y="1440000"/>
            <a:ext cx="522000" cy="244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2000" y="1483200"/>
            <a:ext cx="522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A323C"/>
                </a:solidFill>
                <a:latin typeface="Microsoft YaHei"/>
              </a:rPr>
              <a:t>AMPST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05200" y="2062799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05200" y="24876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05200" y="29124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05200" y="33372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246500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323000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399500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26800" y="1728000"/>
            <a:ext cx="72000" cy="720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98800" y="1764000"/>
            <a:ext cx="86400" cy="360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285200" y="1764000"/>
            <a:ext cx="82800" cy="1080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368000" y="1818000"/>
            <a:ext cx="90000" cy="540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58000" y="1818000"/>
            <a:ext cx="90000" cy="1440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48000" y="1900800"/>
            <a:ext cx="97200" cy="612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645200" y="1900800"/>
            <a:ext cx="86400" cy="1440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731600" y="1998000"/>
            <a:ext cx="86400" cy="46800"/>
          </a:xfrm>
          <a:prstGeom prst="line">
            <a:avLst/>
          </a:prstGeom>
          <a:ln w="2540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655999" y="1440000"/>
            <a:ext cx="522000" cy="2448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55999" y="1483200"/>
            <a:ext cx="522000" cy="12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A323C"/>
                </a:solidFill>
                <a:latin typeface="Microsoft YaHei"/>
              </a:rPr>
              <a:t>PHIE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699200" y="2062799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699200" y="24876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699200" y="29124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99200" y="3337200"/>
            <a:ext cx="435600" cy="0"/>
          </a:xfrm>
          <a:prstGeom prst="line">
            <a:avLst/>
          </a:prstGeom>
          <a:ln w="10160">
            <a:solidFill>
              <a:srgbClr val="E0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40500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16999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93499" y="1620000"/>
            <a:ext cx="0" cy="2203200"/>
          </a:xfrm>
          <a:prstGeom prst="line">
            <a:avLst/>
          </a:prstGeom>
          <a:ln w="10160">
            <a:solidFill>
              <a:srgbClr val="E8ED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20799" y="1728000"/>
            <a:ext cx="72000" cy="720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792799" y="1764000"/>
            <a:ext cx="86401" cy="360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879200" y="1764000"/>
            <a:ext cx="82799" cy="1080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961999" y="1818000"/>
            <a:ext cx="90000" cy="540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051999" y="1818000"/>
            <a:ext cx="90000" cy="1440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141999" y="1900800"/>
            <a:ext cx="97201" cy="612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239200" y="1900800"/>
            <a:ext cx="86400" cy="1440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325600" y="1998000"/>
            <a:ext cx="86399" cy="46800"/>
          </a:xfrm>
          <a:prstGeom prst="line">
            <a:avLst/>
          </a:prstGeom>
          <a:ln w="25400">
            <a:solidFill>
              <a:srgbClr val="DD8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0000" y="4031999"/>
            <a:ext cx="2088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6F7B"/>
                </a:solidFill>
                <a:latin typeface="Microsoft YaHei"/>
              </a:rPr>
              <a:t>输入可为储层参数或流体参数。
通过滑动窗口构造长度为 10 的时序样本。</a:t>
            </a:r>
          </a:p>
        </p:txBody>
      </p:sp>
      <p:sp>
        <p:nvSpPr>
          <p:cNvPr id="66" name="Oval 65"/>
          <p:cNvSpPr/>
          <p:nvPr/>
        </p:nvSpPr>
        <p:spPr>
          <a:xfrm>
            <a:off x="3024000" y="1080000"/>
            <a:ext cx="288000" cy="288000"/>
          </a:xfrm>
          <a:prstGeom prst="ellipse">
            <a:avLst/>
          </a:prstGeom>
          <a:solidFill>
            <a:srgbClr val="1F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24000" y="1108800"/>
            <a:ext cx="288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84000" y="1116000"/>
            <a:ext cx="2412000" cy="1475999"/>
          </a:xfrm>
          <a:prstGeom prst="roundRect">
            <a:avLst/>
          </a:prstGeom>
          <a:solidFill>
            <a:srgbClr val="DFEAF7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F3A5C"/>
                </a:solidFill>
                <a:latin typeface="Microsoft YaHei"/>
              </a:rPr>
              <a:t>BiLSTM 时序编码</a:t>
            </a:r>
          </a:p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1层双向LSTM | hidden_size = 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64000" y="1440000"/>
            <a:ext cx="2052000" cy="14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A323C"/>
                </a:solidFill>
                <a:latin typeface="Microsoft YaHei"/>
              </a:rPr>
              <a:t>输入序列 X = [x1, x2, ..., xt]</a:t>
            </a:r>
          </a:p>
        </p:txBody>
      </p:sp>
      <p:sp>
        <p:nvSpPr>
          <p:cNvPr id="70" name="Oval 69"/>
          <p:cNvSpPr/>
          <p:nvPr/>
        </p:nvSpPr>
        <p:spPr>
          <a:xfrm>
            <a:off x="3636000" y="1764000"/>
            <a:ext cx="223200" cy="223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636000" y="2106000"/>
            <a:ext cx="223200" cy="223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068000" y="1764000"/>
            <a:ext cx="223200" cy="223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068000" y="2106000"/>
            <a:ext cx="223200" cy="223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500000" y="1764000"/>
            <a:ext cx="223200" cy="223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00000" y="2106000"/>
            <a:ext cx="223200" cy="223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932000" y="1764000"/>
            <a:ext cx="223200" cy="223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932000" y="2106000"/>
            <a:ext cx="223200" cy="223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64000" y="1764000"/>
            <a:ext cx="223200" cy="223200"/>
          </a:xfrm>
          <a:prstGeom prst="ellipse">
            <a:avLst/>
          </a:prstGeom>
          <a:solidFill>
            <a:srgbClr val="91C7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64000" y="2106000"/>
            <a:ext cx="223200" cy="223200"/>
          </a:xfrm>
          <a:prstGeom prst="ellipse">
            <a:avLst/>
          </a:prstGeom>
          <a:solidFill>
            <a:srgbClr val="7AAAD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3859199" y="1864800"/>
            <a:ext cx="208801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3859199" y="2214000"/>
            <a:ext cx="208801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291200" y="1864800"/>
            <a:ext cx="208800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4291200" y="2214000"/>
            <a:ext cx="208800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723200" y="1864800"/>
            <a:ext cx="208800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4723200" y="2214000"/>
            <a:ext cx="208800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155199" y="1864800"/>
            <a:ext cx="208801" cy="0"/>
          </a:xfrm>
          <a:prstGeom prst="line">
            <a:avLst/>
          </a:prstGeom>
          <a:ln w="1905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5155199" y="2214000"/>
            <a:ext cx="208801" cy="0"/>
          </a:xfrm>
          <a:prstGeom prst="line">
            <a:avLst/>
          </a:prstGeom>
          <a:ln w="19050">
            <a:solidFill>
              <a:srgbClr val="7AA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5976000" y="1080000"/>
            <a:ext cx="288000" cy="288000"/>
          </a:xfrm>
          <a:prstGeom prst="ellipse">
            <a:avLst/>
          </a:prstGeom>
          <a:solidFill>
            <a:srgbClr val="1F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76000" y="1108800"/>
            <a:ext cx="288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00000" y="1116000"/>
            <a:ext cx="1152000" cy="648000"/>
          </a:xfrm>
          <a:prstGeom prst="roundRect">
            <a:avLst/>
          </a:prstGeom>
          <a:solidFill>
            <a:srgbClr val="DAEFF4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A5C"/>
                </a:solidFill>
                <a:latin typeface="Microsoft YaHei"/>
              </a:rPr>
              <a:t>上下文表示</a:t>
            </a:r>
          </a:p>
          <a:p>
            <a:pPr algn="ctr"/>
            <a:r>
              <a:rPr sz="1200" b="0">
                <a:solidFill>
                  <a:srgbClr val="656F7B"/>
                </a:solidFill>
                <a:latin typeface="Microsoft YaHei"/>
              </a:rPr>
              <a:t>h_target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3999" y="1818000"/>
            <a:ext cx="1044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取窗口末端时刻的上下文特征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5796000" y="1440000"/>
            <a:ext cx="504000" cy="540000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5976000" y="2808000"/>
            <a:ext cx="288000" cy="288000"/>
          </a:xfrm>
          <a:prstGeom prst="ellipse">
            <a:avLst/>
          </a:prstGeom>
          <a:solidFill>
            <a:srgbClr val="1F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76000" y="2836800"/>
            <a:ext cx="288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00000" y="2844000"/>
            <a:ext cx="1152000" cy="648000"/>
          </a:xfrm>
          <a:prstGeom prst="roundRect">
            <a:avLst/>
          </a:prstGeom>
          <a:solidFill>
            <a:srgbClr val="F7E8D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A5C"/>
                </a:solidFill>
                <a:latin typeface="Microsoft YaHei"/>
              </a:rPr>
              <a:t>当前特征</a:t>
            </a:r>
          </a:p>
          <a:p>
            <a:pPr algn="ctr"/>
            <a:r>
              <a:rPr sz="1200" b="0">
                <a:solidFill>
                  <a:srgbClr val="656F7B"/>
                </a:solidFill>
                <a:latin typeface="Microsoft YaHei"/>
              </a:rPr>
              <a:t>x_target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72000" y="3546000"/>
            <a:ext cx="1007999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取窗口末端原始输入特征</a:t>
            </a:r>
          </a:p>
        </p:txBody>
      </p:sp>
      <p:cxnSp>
        <p:nvCxnSpPr>
          <p:cNvPr id="97" name="Connector 96"/>
          <p:cNvCxnSpPr/>
          <p:nvPr/>
        </p:nvCxnSpPr>
        <p:spPr>
          <a:xfrm flipV="1">
            <a:off x="2502000" y="3168000"/>
            <a:ext cx="3798000" cy="432000"/>
          </a:xfrm>
          <a:prstGeom prst="line">
            <a:avLst/>
          </a:prstGeom>
          <a:ln w="22860">
            <a:solidFill>
              <a:srgbClr val="5EAC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7703999" y="1872000"/>
            <a:ext cx="288000" cy="288000"/>
          </a:xfrm>
          <a:prstGeom prst="ellipse">
            <a:avLst/>
          </a:prstGeom>
          <a:solidFill>
            <a:srgbClr val="1F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703999" y="1900800"/>
            <a:ext cx="288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992000" y="1908000"/>
            <a:ext cx="972000" cy="756000"/>
          </a:xfrm>
          <a:prstGeom prst="roundRect">
            <a:avLst/>
          </a:prstGeom>
          <a:solidFill>
            <a:srgbClr val="E3EFE0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C"/>
                </a:solidFill>
                <a:latin typeface="Microsoft YaHei"/>
              </a:rPr>
              <a:t>注意力权重</a:t>
            </a:r>
          </a:p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α = Attention(h_target, x_target)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2000" y="2754000"/>
            <a:ext cx="1152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由 h_target 与 x_target 共同生成特征权重 α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452000" y="1440000"/>
            <a:ext cx="540000" cy="720000"/>
          </a:xfrm>
          <a:prstGeom prst="line">
            <a:avLst/>
          </a:prstGeom>
          <a:ln w="2413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452000" y="2376000"/>
            <a:ext cx="540000" cy="792000"/>
          </a:xfrm>
          <a:prstGeom prst="line">
            <a:avLst/>
          </a:prstGeom>
          <a:ln w="2413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4680000" y="3888000"/>
            <a:ext cx="288000" cy="288000"/>
          </a:xfrm>
          <a:prstGeom prst="ellipse">
            <a:avLst/>
          </a:prstGeom>
          <a:solidFill>
            <a:srgbClr val="1F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80000" y="3916800"/>
            <a:ext cx="288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004000" y="3924000"/>
            <a:ext cx="1692000" cy="756000"/>
          </a:xfrm>
          <a:prstGeom prst="roundRect">
            <a:avLst/>
          </a:prstGeom>
          <a:solidFill>
            <a:srgbClr val="EBE5F3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A5C"/>
                </a:solidFill>
                <a:latin typeface="Microsoft YaHei"/>
              </a:rPr>
              <a:t>加权特征</a:t>
            </a:r>
          </a:p>
          <a:p>
            <a:pPr algn="ctr"/>
            <a:r>
              <a:rPr sz="1100" b="0">
                <a:solidFill>
                  <a:srgbClr val="656F7B"/>
                </a:solidFill>
                <a:latin typeface="Microsoft YaHei"/>
              </a:rPr>
              <a:t>weighted_x = α ⊙ x_target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76000" y="4752000"/>
            <a:ext cx="1548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对当前特征进行动态加权，突出关键参数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6696000" y="2412000"/>
            <a:ext cx="1296000" cy="1764000"/>
          </a:xfrm>
          <a:prstGeom prst="line">
            <a:avLst/>
          </a:prstGeom>
          <a:ln w="2413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7380000" y="3888000"/>
            <a:ext cx="288000" cy="288000"/>
          </a:xfrm>
          <a:prstGeom prst="ellipse">
            <a:avLst/>
          </a:prstGeom>
          <a:solidFill>
            <a:srgbClr val="1F3A5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80000" y="3916800"/>
            <a:ext cx="288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703999" y="3924000"/>
            <a:ext cx="1296000" cy="756000"/>
          </a:xfrm>
          <a:prstGeom prst="roundRect">
            <a:avLst/>
          </a:prstGeom>
          <a:solidFill>
            <a:srgbClr val="DFEAF7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A5C"/>
                </a:solidFill>
                <a:latin typeface="Microsoft YaHei"/>
              </a:rPr>
              <a:t>融合与分类</a:t>
            </a:r>
          </a:p>
          <a:p>
            <a:pPr algn="ctr"/>
            <a:r>
              <a:rPr sz="900" b="0">
                <a:solidFill>
                  <a:srgbClr val="656F7B"/>
                </a:solidFill>
                <a:latin typeface="Microsoft YaHei"/>
              </a:rPr>
              <a:t>[h_target, x_target, weighted_x]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58000" y="4734000"/>
            <a:ext cx="118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FC + ReLU + Dropout
输出最终结果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696000" y="4302000"/>
            <a:ext cx="1007999" cy="0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452000" y="3168000"/>
            <a:ext cx="251999" cy="863999"/>
          </a:xfrm>
          <a:prstGeom prst="line">
            <a:avLst/>
          </a:prstGeom>
          <a:ln w="2286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9648000" y="1440000"/>
            <a:ext cx="1980000" cy="684000"/>
          </a:xfrm>
          <a:prstGeom prst="roundRect">
            <a:avLst/>
          </a:prstGeom>
          <a:solidFill>
            <a:srgbClr val="F7E8DC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C"/>
                </a:solidFill>
                <a:latin typeface="Microsoft YaHei"/>
              </a:rPr>
              <a:t>分类输出</a:t>
            </a:r>
          </a:p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有效储层 / 气液识别结果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648000" y="2376000"/>
            <a:ext cx="1980000" cy="684000"/>
          </a:xfrm>
          <a:prstGeom prst="roundRect">
            <a:avLst/>
          </a:prstGeom>
          <a:solidFill>
            <a:srgbClr val="E3EFE0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C"/>
                </a:solidFill>
                <a:latin typeface="Microsoft YaHei"/>
              </a:rPr>
              <a:t>连续曲线输出</a:t>
            </a:r>
          </a:p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Logits / 归一化指示曲线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648000" y="3311999"/>
            <a:ext cx="1980000" cy="684000"/>
          </a:xfrm>
          <a:prstGeom prst="roundRect">
            <a:avLst/>
          </a:prstGeom>
          <a:solidFill>
            <a:srgbClr val="EBE5F3"/>
          </a:solidFill>
          <a:ln w="1524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C"/>
                </a:solidFill>
                <a:latin typeface="Microsoft YaHei"/>
              </a:rPr>
              <a:t>权重解释输出</a:t>
            </a:r>
          </a:p>
          <a:p>
            <a:pPr algn="ctr"/>
            <a:r>
              <a:rPr sz="1000" b="0">
                <a:solidFill>
                  <a:srgbClr val="656F7B"/>
                </a:solidFill>
                <a:latin typeface="Microsoft YaHei"/>
              </a:rPr>
              <a:t>FA_alpha_* 动态权重曲线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84000" y="4320000"/>
            <a:ext cx="1908000" cy="39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6F7B"/>
                </a:solidFill>
                <a:latin typeface="Microsoft YaHei"/>
              </a:rPr>
              <a:t>输出既可用于分类判别，
也可用于工程解释与绘图。</a:t>
            </a: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9000000" y="1782000"/>
            <a:ext cx="648000" cy="2520000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000000" y="2718000"/>
            <a:ext cx="648000" cy="1584000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000000" y="3654000"/>
            <a:ext cx="648000" cy="648000"/>
          </a:xfrm>
          <a:prstGeom prst="line">
            <a:avLst/>
          </a:prstGeom>
          <a:ln w="25400">
            <a:solidFill>
              <a:srgbClr val="74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720000" y="5958000"/>
            <a:ext cx="10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56F7B"/>
                </a:solidFill>
                <a:latin typeface="Microsoft YaHei"/>
              </a:rPr>
              <a:t>说明：图中主体为 BiLSTM 主干网络，注意力机制由 h_target 与 x_target 共同生成 α，并用于计算 weighted_x，最终经融合与分类头得到输出。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