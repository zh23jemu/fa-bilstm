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486000"/>
          </a:xfrm>
          <a:prstGeom prst="rect">
            <a:avLst/>
          </a:prstGeom>
          <a:solidFill>
            <a:srgbClr val="1C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4000" y="79200"/>
            <a:ext cx="396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FA-BiLSTM 网络结构图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60000" y="153141"/>
            <a:ext cx="4248000" cy="2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 dirty="0" err="1">
                <a:solidFill>
                  <a:srgbClr val="E5ECF4"/>
                </a:solidFill>
                <a:latin typeface="Microsoft YaHei"/>
              </a:rPr>
              <a:t>输入序列</a:t>
            </a:r>
            <a:r>
              <a:rPr sz="1100" b="0" dirty="0">
                <a:solidFill>
                  <a:srgbClr val="E5ECF4"/>
                </a:solidFill>
                <a:latin typeface="Microsoft YaHei"/>
              </a:rPr>
              <a:t>  -&gt;  </a:t>
            </a:r>
            <a:r>
              <a:rPr sz="1100" b="0" dirty="0" err="1">
                <a:solidFill>
                  <a:srgbClr val="E5ECF4"/>
                </a:solidFill>
                <a:latin typeface="Microsoft YaHei"/>
              </a:rPr>
              <a:t>时序编码</a:t>
            </a:r>
            <a:r>
              <a:rPr sz="1100" b="0" dirty="0">
                <a:solidFill>
                  <a:srgbClr val="E5ECF4"/>
                </a:solidFill>
                <a:latin typeface="Microsoft YaHei"/>
              </a:rPr>
              <a:t>  -&gt;  </a:t>
            </a:r>
            <a:r>
              <a:rPr sz="1100" b="0" dirty="0" err="1">
                <a:solidFill>
                  <a:srgbClr val="E5ECF4"/>
                </a:solidFill>
                <a:latin typeface="Microsoft YaHei"/>
              </a:rPr>
              <a:t>特征耦合</a:t>
            </a:r>
            <a:r>
              <a:rPr sz="1100" b="0" dirty="0">
                <a:solidFill>
                  <a:srgbClr val="E5ECF4"/>
                </a:solidFill>
                <a:latin typeface="Microsoft YaHei"/>
              </a:rPr>
              <a:t>  -&gt;  </a:t>
            </a:r>
            <a:r>
              <a:rPr sz="1100" b="0" dirty="0" err="1">
                <a:solidFill>
                  <a:srgbClr val="E5ECF4"/>
                </a:solidFill>
                <a:latin typeface="Microsoft YaHei"/>
              </a:rPr>
              <a:t>分类输出</a:t>
            </a:r>
            <a:endParaRPr sz="1100" b="0" dirty="0">
              <a:solidFill>
                <a:srgbClr val="E5ECF4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2000" y="1572981"/>
            <a:ext cx="1655999" cy="792000"/>
          </a:xfrm>
          <a:prstGeom prst="roundRect">
            <a:avLst/>
          </a:prstGeom>
          <a:solidFill>
            <a:srgbClr val="DFF1EC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输入序列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窗口长度 = 10</a:t>
            </a:r>
          </a:p>
        </p:txBody>
      </p:sp>
      <p:sp>
        <p:nvSpPr>
          <p:cNvPr id="6" name="Oval 5"/>
          <p:cNvSpPr/>
          <p:nvPr/>
        </p:nvSpPr>
        <p:spPr>
          <a:xfrm>
            <a:off x="432000" y="1356981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0" y="1572981"/>
            <a:ext cx="1655999" cy="792000"/>
          </a:xfrm>
          <a:prstGeom prst="roundRect">
            <a:avLst/>
          </a:prstGeom>
          <a:solidFill>
            <a:srgbClr val="FBEDD6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BiLSTM 编码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1层双向LSTM | hidden = 16</a:t>
            </a:r>
          </a:p>
        </p:txBody>
      </p:sp>
      <p:sp>
        <p:nvSpPr>
          <p:cNvPr id="8" name="Oval 7"/>
          <p:cNvSpPr/>
          <p:nvPr/>
        </p:nvSpPr>
        <p:spPr>
          <a:xfrm>
            <a:off x="2520000" y="1356981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08000" y="1194981"/>
            <a:ext cx="1512000" cy="630000"/>
          </a:xfrm>
          <a:prstGeom prst="roundRect">
            <a:avLst/>
          </a:prstGeom>
          <a:solidFill>
            <a:srgbClr val="DEEAF8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上下文向量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h_target</a:t>
            </a:r>
          </a:p>
        </p:txBody>
      </p:sp>
      <p:sp>
        <p:nvSpPr>
          <p:cNvPr id="10" name="Oval 9"/>
          <p:cNvSpPr/>
          <p:nvPr/>
        </p:nvSpPr>
        <p:spPr>
          <a:xfrm>
            <a:off x="4608000" y="969981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08000" y="2058980"/>
            <a:ext cx="1512000" cy="630000"/>
          </a:xfrm>
          <a:prstGeom prst="roundRect">
            <a:avLst/>
          </a:prstGeom>
          <a:solidFill>
            <a:srgbClr val="DEEAF8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当前特征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x_target</a:t>
            </a:r>
          </a:p>
        </p:txBody>
      </p:sp>
      <p:sp>
        <p:nvSpPr>
          <p:cNvPr id="12" name="Oval 11"/>
          <p:cNvSpPr/>
          <p:nvPr/>
        </p:nvSpPr>
        <p:spPr>
          <a:xfrm>
            <a:off x="4608000" y="1842980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8000" y="1572981"/>
            <a:ext cx="1764000" cy="792000"/>
          </a:xfrm>
          <a:prstGeom prst="roundRect">
            <a:avLst/>
          </a:prstGeom>
          <a:solidFill>
            <a:srgbClr val="E0EED6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特征注意力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attention_dim = 32</a:t>
            </a:r>
          </a:p>
        </p:txBody>
      </p:sp>
      <p:sp>
        <p:nvSpPr>
          <p:cNvPr id="14" name="Oval 13"/>
          <p:cNvSpPr/>
          <p:nvPr/>
        </p:nvSpPr>
        <p:spPr>
          <a:xfrm>
            <a:off x="6588000" y="1356981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4000" y="1194981"/>
            <a:ext cx="1512000" cy="630000"/>
          </a:xfrm>
          <a:prstGeom prst="roundRect">
            <a:avLst/>
          </a:prstGeom>
          <a:solidFill>
            <a:srgbClr val="F4E1E0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加权特征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weighted_x = α ⊙ x</a:t>
            </a:r>
          </a:p>
        </p:txBody>
      </p:sp>
      <p:sp>
        <p:nvSpPr>
          <p:cNvPr id="16" name="Oval 15"/>
          <p:cNvSpPr/>
          <p:nvPr/>
        </p:nvSpPr>
        <p:spPr>
          <a:xfrm>
            <a:off x="8784000" y="978981"/>
            <a:ext cx="324000" cy="324000"/>
          </a:xfrm>
          <a:prstGeom prst="ellipse">
            <a:avLst/>
          </a:prstGeom>
          <a:solidFill>
            <a:srgbClr val="1C345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84000" y="2058980"/>
            <a:ext cx="1512000" cy="630000"/>
          </a:xfrm>
          <a:prstGeom prst="roundRect">
            <a:avLst/>
          </a:prstGeom>
          <a:solidFill>
            <a:srgbClr val="EAE2F2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特征融合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[h, x, weighted_x]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56000" y="1572981"/>
            <a:ext cx="1116000" cy="792000"/>
          </a:xfrm>
          <a:prstGeom prst="roundRect">
            <a:avLst/>
          </a:prstGeom>
          <a:solidFill>
            <a:srgbClr val="FCF0CE"/>
          </a:solidFill>
          <a:ln w="1524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1C3454"/>
                </a:solidFill>
                <a:latin typeface="Microsoft YaHei"/>
              </a:rPr>
              <a:t>分类头</a:t>
            </a:r>
          </a:p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MLP + Dropout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2454981"/>
            <a:ext cx="1728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有效储层: MLR, AMPST, PHIE
气液识别: Sigma, RICX, RIN13, RATO13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2000" y="2454981"/>
            <a:ext cx="1548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提取井深方向的上下文时序特征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3999" y="2454981"/>
            <a:ext cx="1764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07E"/>
                </a:solidFill>
                <a:latin typeface="Microsoft YaHei"/>
              </a:rPr>
              <a:t>由 h_target 与 x_target 共同计算
各输入参数的动态权重 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12000" y="2688981"/>
            <a:ext cx="3096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dirty="0">
                <a:solidFill>
                  <a:srgbClr val="63707E"/>
                </a:solidFill>
                <a:latin typeface="Microsoft YaHei"/>
              </a:rPr>
              <a:t>Linear(</a:t>
            </a:r>
            <a:r>
              <a:rPr sz="1000" b="0" dirty="0" err="1">
                <a:solidFill>
                  <a:srgbClr val="63707E"/>
                </a:solidFill>
                <a:latin typeface="Microsoft YaHei"/>
              </a:rPr>
              <a:t>fusion_size</a:t>
            </a:r>
            <a:r>
              <a:rPr sz="1000" b="0" dirty="0">
                <a:solidFill>
                  <a:srgbClr val="63707E"/>
                </a:solidFill>
                <a:latin typeface="Microsoft YaHei"/>
              </a:rPr>
              <a:t> -&gt; 16) + </a:t>
            </a:r>
            <a:r>
              <a:rPr sz="1000" b="0" dirty="0" err="1">
                <a:solidFill>
                  <a:srgbClr val="63707E"/>
                </a:solidFill>
                <a:latin typeface="Microsoft YaHei"/>
              </a:rPr>
              <a:t>ReLU</a:t>
            </a:r>
            <a:r>
              <a:rPr sz="1000" b="0" dirty="0">
                <a:solidFill>
                  <a:srgbClr val="63707E"/>
                </a:solidFill>
                <a:latin typeface="Microsoft YaHei"/>
              </a:rPr>
              <a:t> + Dropout(0.2) + Linear(16 -&gt; 2)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88000" y="1968980"/>
            <a:ext cx="432000" cy="0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176000" y="1518981"/>
            <a:ext cx="432000" cy="449999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76000" y="1968980"/>
            <a:ext cx="432000" cy="396001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20000" y="1518981"/>
            <a:ext cx="468000" cy="414000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120000" y="2004981"/>
            <a:ext cx="468000" cy="360000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52000" y="1518981"/>
            <a:ext cx="432000" cy="414000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352000" y="2004981"/>
            <a:ext cx="432000" cy="360000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0296000" y="1968980"/>
            <a:ext cx="360000" cy="396001"/>
          </a:xfrm>
          <a:prstGeom prst="line">
            <a:avLst/>
          </a:prstGeom>
          <a:ln w="27940">
            <a:solidFill>
              <a:srgbClr val="788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3804980"/>
            <a:ext cx="2520000" cy="1655999"/>
          </a:xfrm>
          <a:prstGeom prst="roundRect">
            <a:avLst/>
          </a:prstGeom>
          <a:solidFill>
            <a:srgbClr val="E8EAEE"/>
          </a:solidFill>
          <a:ln w="1270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6000" y="3930980"/>
            <a:ext cx="223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454"/>
                </a:solidFill>
                <a:latin typeface="Microsoft YaHei"/>
              </a:rPr>
              <a:t>输出结果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4200980"/>
            <a:ext cx="2232000" cy="115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E3842"/>
                </a:solidFill>
                <a:latin typeface="Microsoft YaHei"/>
              </a:rPr>
              <a:t>1. 分类标签
2. 连续指示曲线（Logits / 归一化曲线）
3. 动态特征权重曲线 FA_alpha_*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0" y="3804980"/>
            <a:ext cx="2988000" cy="1655999"/>
          </a:xfrm>
          <a:prstGeom prst="roundRect">
            <a:avLst/>
          </a:prstGeom>
          <a:solidFill>
            <a:srgbClr val="E1ECF3"/>
          </a:solidFill>
          <a:ln w="1270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84000" y="3930980"/>
            <a:ext cx="27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454"/>
                </a:solidFill>
                <a:latin typeface="Microsoft YaHei"/>
              </a:rPr>
              <a:t>训练设置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4000" y="4200980"/>
            <a:ext cx="2700000" cy="115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E3842"/>
                </a:solidFill>
                <a:latin typeface="Microsoft YaHei"/>
              </a:rPr>
              <a:t>学习率 0.003
最大轮数 180
Early Stopping = 25
Adam + weight decay = 1e-4
高斯噪声增强 + 少量特征 dropout
梯度裁剪 max_norm = 3.0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6000" y="3804980"/>
            <a:ext cx="2448000" cy="1655999"/>
          </a:xfrm>
          <a:prstGeom prst="roundRect">
            <a:avLst/>
          </a:prstGeom>
          <a:solidFill>
            <a:srgbClr val="F7E8E5"/>
          </a:solidFill>
          <a:ln w="1270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60000" y="3930980"/>
            <a:ext cx="216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454"/>
                </a:solidFill>
                <a:latin typeface="Microsoft YaHei"/>
              </a:rPr>
              <a:t>模块含义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0000" y="4200980"/>
            <a:ext cx="2160000" cy="115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E3842"/>
                </a:solidFill>
                <a:latin typeface="Microsoft YaHei"/>
              </a:rPr>
              <a:t>BiLSTM 负责提取井深方向的时序依赖。
特征注意力层负责多参数动态耦合。
融合层同时保留时序信息与原始物理特征。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16000" y="3804980"/>
            <a:ext cx="2556000" cy="1655999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88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60000" y="3930980"/>
            <a:ext cx="2268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454"/>
                </a:solidFill>
                <a:latin typeface="Microsoft YaHei"/>
              </a:rPr>
              <a:t>消融实验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60000" y="4200980"/>
            <a:ext cx="2268000" cy="115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E3842"/>
                </a:solidFill>
                <a:latin typeface="Microsoft YaHei"/>
              </a:rPr>
              <a:t>LDA：线性基线
BiLSTM：仅时序建模
FA-BiLSTM：时序建模 + 特征注意力
用于验证鲁棒性与多参数耦合增益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3480981"/>
            <a:ext cx="216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C3454"/>
                </a:solidFill>
                <a:latin typeface="Microsoft YaHei"/>
              </a:rPr>
              <a:t>模型输出与实验说明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000" y="1122981"/>
            <a:ext cx="288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C3454"/>
                </a:solidFill>
                <a:latin typeface="Microsoft YaHei"/>
              </a:rPr>
              <a:t>主流程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195</Words>
  <Application>Microsoft Office PowerPoint</Application>
  <PresentationFormat>宽屏</PresentationFormat>
  <Paragraphs>38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Microsoft YaHei</vt:lpstr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Hao Zhou</cp:lastModifiedBy>
  <cp:revision>2</cp:revision>
  <dcterms:created xsi:type="dcterms:W3CDTF">2013-01-27T09:14:16Z</dcterms:created>
  <dcterms:modified xsi:type="dcterms:W3CDTF">2026-04-04T08:50:12Z</dcterms:modified>
  <cp:category/>
</cp:coreProperties>
</file>